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Barlow Bold" panose="00000800000000000000" pitchFamily="2" charset="0"/>
      <p:bold r:id="rId14"/>
    </p:embeddedFont>
    <p:embeddedFont>
      <p:font typeface="Barlow Light" panose="00000400000000000000" pitchFamily="2" charset="0"/>
      <p:regular r:id="rId15"/>
    </p:embeddedFont>
    <p:embeddedFont>
      <p:font typeface="Montserrat" panose="00000500000000000000"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1" d="100"/>
          <a:sy n="61" d="100"/>
        </p:scale>
        <p:origin x="39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0308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9.sv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32.png"/><Relationship Id="rId4" Type="http://schemas.openxmlformats.org/officeDocument/2006/relationships/image" Target="../media/image31.sv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58309" y="2241352"/>
            <a:ext cx="7627382" cy="2138124"/>
          </a:xfrm>
          <a:prstGeom prst="rect">
            <a:avLst/>
          </a:prstGeom>
          <a:noFill/>
          <a:ln/>
        </p:spPr>
        <p:txBody>
          <a:bodyPr wrap="squar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Salary Range Classification Using Machine Learning in Tech Organizations</a:t>
            </a:r>
            <a:endParaRPr lang="en-US" sz="4450" dirty="0"/>
          </a:p>
        </p:txBody>
      </p:sp>
      <p:sp>
        <p:nvSpPr>
          <p:cNvPr id="4" name="Text 1"/>
          <p:cNvSpPr/>
          <p:nvPr/>
        </p:nvSpPr>
        <p:spPr>
          <a:xfrm>
            <a:off x="758309" y="4704398"/>
            <a:ext cx="7627382" cy="69342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A data-driven approach to transforming compensation decisions through supervised machine learning and predictive analytics</a:t>
            </a:r>
            <a:endParaRPr lang="en-US" sz="1700" dirty="0"/>
          </a:p>
        </p:txBody>
      </p:sp>
      <p:sp>
        <p:nvSpPr>
          <p:cNvPr id="5" name="Text 2"/>
          <p:cNvSpPr/>
          <p:nvPr/>
        </p:nvSpPr>
        <p:spPr>
          <a:xfrm>
            <a:off x="758309" y="5641538"/>
            <a:ext cx="7627382" cy="346710"/>
          </a:xfrm>
          <a:prstGeom prst="rect">
            <a:avLst/>
          </a:prstGeom>
          <a:noFill/>
          <a:ln/>
        </p:spPr>
        <p:txBody>
          <a:bodyPr wrap="none" lIns="0" tIns="0" rIns="0" bIns="0" rtlCol="0" anchor="t"/>
          <a:lstStyle/>
          <a:p>
            <a:pPr marL="0" indent="0" algn="l">
              <a:lnSpc>
                <a:spcPts val="2700"/>
              </a:lnSpc>
              <a:buNone/>
            </a:pP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58309" y="705445"/>
            <a:ext cx="2218849" cy="407075"/>
          </a:xfrm>
          <a:prstGeom prst="roundRect">
            <a:avLst>
              <a:gd name="adj" fmla="val 63869"/>
            </a:avLst>
          </a:prstGeom>
          <a:solidFill>
            <a:srgbClr val="D4E9F7"/>
          </a:solidFill>
          <a:ln/>
        </p:spPr>
      </p:sp>
      <p:sp>
        <p:nvSpPr>
          <p:cNvPr id="3" name="Text 1"/>
          <p:cNvSpPr/>
          <p:nvPr/>
        </p:nvSpPr>
        <p:spPr>
          <a:xfrm>
            <a:off x="888206" y="770334"/>
            <a:ext cx="1959054" cy="277297"/>
          </a:xfrm>
          <a:prstGeom prst="rect">
            <a:avLst/>
          </a:prstGeom>
          <a:noFill/>
          <a:ln/>
        </p:spPr>
        <p:txBody>
          <a:bodyPr wrap="none" lIns="0" tIns="0" rIns="0" bIns="0" rtlCol="0" anchor="t"/>
          <a:lstStyle/>
          <a:p>
            <a:pPr marL="0" indent="0" algn="l">
              <a:lnSpc>
                <a:spcPts val="2150"/>
              </a:lnSpc>
              <a:buNone/>
            </a:pPr>
            <a:r>
              <a:rPr lang="en-US" sz="1350" dirty="0">
                <a:solidFill>
                  <a:srgbClr val="384653"/>
                </a:solidFill>
                <a:latin typeface="Montserrat" pitchFamily="34" charset="0"/>
                <a:ea typeface="Montserrat" pitchFamily="34" charset="-122"/>
                <a:cs typeface="Montserrat" pitchFamily="34" charset="-120"/>
              </a:rPr>
              <a:t>EXECUTIVE SUMMARY</a:t>
            </a:r>
            <a:endParaRPr lang="en-US" sz="1350" dirty="0"/>
          </a:p>
        </p:txBody>
      </p:sp>
      <p:sp>
        <p:nvSpPr>
          <p:cNvPr id="4" name="Text 2"/>
          <p:cNvSpPr/>
          <p:nvPr/>
        </p:nvSpPr>
        <p:spPr>
          <a:xfrm>
            <a:off x="758309" y="1199078"/>
            <a:ext cx="13113782" cy="1425416"/>
          </a:xfrm>
          <a:prstGeom prst="rect">
            <a:avLst/>
          </a:prstGeom>
          <a:noFill/>
          <a:ln/>
        </p:spPr>
        <p:txBody>
          <a:bodyPr wrap="squar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Transforming Salary Decisions with Machine Learning</a:t>
            </a:r>
            <a:endParaRPr lang="en-US" sz="4450" dirty="0"/>
          </a:p>
        </p:txBody>
      </p:sp>
      <p:sp>
        <p:nvSpPr>
          <p:cNvPr id="5" name="Shape 3"/>
          <p:cNvSpPr/>
          <p:nvPr/>
        </p:nvSpPr>
        <p:spPr>
          <a:xfrm>
            <a:off x="758309" y="2949416"/>
            <a:ext cx="4226838" cy="4574738"/>
          </a:xfrm>
          <a:prstGeom prst="roundRect">
            <a:avLst>
              <a:gd name="adj" fmla="val 7689"/>
            </a:avLst>
          </a:prstGeom>
          <a:solidFill>
            <a:srgbClr val="D4E9F7"/>
          </a:solidFill>
          <a:ln w="7620">
            <a:solidFill>
              <a:srgbClr val="BACFDD"/>
            </a:solidFill>
            <a:prstDash val="solid"/>
          </a:ln>
        </p:spPr>
      </p:sp>
      <p:pic>
        <p:nvPicPr>
          <p:cNvPr id="6" name="Image 0" descr="preencoded.png"/>
          <p:cNvPicPr>
            <a:picLocks noChangeAspect="1"/>
          </p:cNvPicPr>
          <p:nvPr/>
        </p:nvPicPr>
        <p:blipFill>
          <a:blip r:embed="rId3"/>
          <a:stretch>
            <a:fillRect/>
          </a:stretch>
        </p:blipFill>
        <p:spPr>
          <a:xfrm>
            <a:off x="982504" y="3173611"/>
            <a:ext cx="649962" cy="649962"/>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1217" y="3352324"/>
            <a:ext cx="292418" cy="292418"/>
          </a:xfrm>
          <a:prstGeom prst="rect">
            <a:avLst/>
          </a:prstGeom>
        </p:spPr>
      </p:pic>
      <p:sp>
        <p:nvSpPr>
          <p:cNvPr id="8" name="Text 4"/>
          <p:cNvSpPr/>
          <p:nvPr/>
        </p:nvSpPr>
        <p:spPr>
          <a:xfrm>
            <a:off x="982504" y="4040148"/>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The Challenge</a:t>
            </a:r>
            <a:endParaRPr lang="en-US" sz="2200" dirty="0"/>
          </a:p>
        </p:txBody>
      </p:sp>
      <p:sp>
        <p:nvSpPr>
          <p:cNvPr id="9" name="Text 5"/>
          <p:cNvSpPr/>
          <p:nvPr/>
        </p:nvSpPr>
        <p:spPr>
          <a:xfrm>
            <a:off x="982504" y="4526280"/>
            <a:ext cx="3778448" cy="277368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Salary decisions in tech organizations often rely on subjective judgment, leading to inconsistencies, potential bias, and employee dissatisfaction. As organizations scale, manual processes become increasingly unreliable.</a:t>
            </a:r>
            <a:endParaRPr lang="en-US" sz="1700" dirty="0"/>
          </a:p>
        </p:txBody>
      </p:sp>
      <p:sp>
        <p:nvSpPr>
          <p:cNvPr id="10" name="Shape 6"/>
          <p:cNvSpPr/>
          <p:nvPr/>
        </p:nvSpPr>
        <p:spPr>
          <a:xfrm>
            <a:off x="5201722" y="2949416"/>
            <a:ext cx="4226838" cy="4574738"/>
          </a:xfrm>
          <a:prstGeom prst="roundRect">
            <a:avLst>
              <a:gd name="adj" fmla="val 7689"/>
            </a:avLst>
          </a:prstGeom>
          <a:solidFill>
            <a:srgbClr val="D4E9F7"/>
          </a:solidFill>
          <a:ln w="7620">
            <a:solidFill>
              <a:srgbClr val="BACFDD"/>
            </a:solidFill>
            <a:prstDash val="solid"/>
          </a:ln>
        </p:spPr>
      </p:sp>
      <p:pic>
        <p:nvPicPr>
          <p:cNvPr id="11" name="Image 2" descr="preencoded.png"/>
          <p:cNvPicPr>
            <a:picLocks noChangeAspect="1"/>
          </p:cNvPicPr>
          <p:nvPr/>
        </p:nvPicPr>
        <p:blipFill>
          <a:blip r:embed="rId6"/>
          <a:stretch>
            <a:fillRect/>
          </a:stretch>
        </p:blipFill>
        <p:spPr>
          <a:xfrm>
            <a:off x="5425916" y="3173611"/>
            <a:ext cx="649962" cy="649962"/>
          </a:xfrm>
          <a:prstGeom prst="rect">
            <a:avLst/>
          </a:prstGeom>
        </p:spPr>
      </p:pic>
      <p:pic>
        <p:nvPicPr>
          <p:cNvPr id="12"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04629" y="3352324"/>
            <a:ext cx="292418" cy="292418"/>
          </a:xfrm>
          <a:prstGeom prst="rect">
            <a:avLst/>
          </a:prstGeom>
        </p:spPr>
      </p:pic>
      <p:sp>
        <p:nvSpPr>
          <p:cNvPr id="13" name="Text 7"/>
          <p:cNvSpPr/>
          <p:nvPr/>
        </p:nvSpPr>
        <p:spPr>
          <a:xfrm>
            <a:off x="5425916" y="4040148"/>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Our Solution</a:t>
            </a:r>
            <a:endParaRPr lang="en-US" sz="2200" dirty="0"/>
          </a:p>
        </p:txBody>
      </p:sp>
      <p:sp>
        <p:nvSpPr>
          <p:cNvPr id="14" name="Text 8"/>
          <p:cNvSpPr/>
          <p:nvPr/>
        </p:nvSpPr>
        <p:spPr>
          <a:xfrm>
            <a:off x="5425916" y="4526280"/>
            <a:ext cx="3778448" cy="242697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A supervised machine learning classification system predicts salary ranges (Low, Medium, High) rather than exact amounts. Multiple models were rigorously evaluated, with Gradient Boosting achieving superior performance.</a:t>
            </a:r>
            <a:endParaRPr lang="en-US" sz="1700" dirty="0"/>
          </a:p>
        </p:txBody>
      </p:sp>
      <p:sp>
        <p:nvSpPr>
          <p:cNvPr id="15" name="Shape 9"/>
          <p:cNvSpPr/>
          <p:nvPr/>
        </p:nvSpPr>
        <p:spPr>
          <a:xfrm>
            <a:off x="9645134" y="2949416"/>
            <a:ext cx="4226957" cy="4574738"/>
          </a:xfrm>
          <a:prstGeom prst="roundRect">
            <a:avLst>
              <a:gd name="adj" fmla="val 7689"/>
            </a:avLst>
          </a:prstGeom>
          <a:solidFill>
            <a:srgbClr val="D4E9F7"/>
          </a:solidFill>
          <a:ln w="7620">
            <a:solidFill>
              <a:srgbClr val="BACFDD"/>
            </a:solidFill>
            <a:prstDash val="solid"/>
          </a:ln>
        </p:spPr>
      </p:sp>
      <p:pic>
        <p:nvPicPr>
          <p:cNvPr id="16" name="Image 4" descr="preencoded.png"/>
          <p:cNvPicPr>
            <a:picLocks noChangeAspect="1"/>
          </p:cNvPicPr>
          <p:nvPr/>
        </p:nvPicPr>
        <p:blipFill>
          <a:blip r:embed="rId9"/>
          <a:stretch>
            <a:fillRect/>
          </a:stretch>
        </p:blipFill>
        <p:spPr>
          <a:xfrm>
            <a:off x="9869329" y="3173611"/>
            <a:ext cx="649962" cy="649962"/>
          </a:xfrm>
          <a:prstGeom prst="rect">
            <a:avLst/>
          </a:prstGeom>
        </p:spPr>
      </p:pic>
      <p:pic>
        <p:nvPicPr>
          <p:cNvPr id="17"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48042" y="3352324"/>
            <a:ext cx="292418" cy="292418"/>
          </a:xfrm>
          <a:prstGeom prst="rect">
            <a:avLst/>
          </a:prstGeom>
        </p:spPr>
      </p:pic>
      <p:sp>
        <p:nvSpPr>
          <p:cNvPr id="18" name="Text 10"/>
          <p:cNvSpPr/>
          <p:nvPr/>
        </p:nvSpPr>
        <p:spPr>
          <a:xfrm>
            <a:off x="9869329" y="4040148"/>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Business Impact</a:t>
            </a:r>
            <a:endParaRPr lang="en-US" sz="2200" dirty="0"/>
          </a:p>
        </p:txBody>
      </p:sp>
      <p:sp>
        <p:nvSpPr>
          <p:cNvPr id="19" name="Text 11"/>
          <p:cNvSpPr/>
          <p:nvPr/>
        </p:nvSpPr>
        <p:spPr>
          <a:xfrm>
            <a:off x="9869329" y="4526280"/>
            <a:ext cx="3778568" cy="242697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The model empowers HR teams to standardize salary recommendations, improve fairness and transparency, and enable truly data-driven compensation decisions across the organization.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469112" y="484346"/>
            <a:ext cx="1317665" cy="345281"/>
          </a:xfrm>
          <a:prstGeom prst="roundRect">
            <a:avLst>
              <a:gd name="adj" fmla="val 61033"/>
            </a:avLst>
          </a:prstGeom>
          <a:noFill/>
          <a:ln w="7620">
            <a:solidFill>
              <a:srgbClr val="75BAE6"/>
            </a:solidFill>
            <a:prstDash val="solid"/>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81983" y="586740"/>
            <a:ext cx="140375" cy="140375"/>
          </a:xfrm>
          <a:prstGeom prst="rect">
            <a:avLst/>
          </a:prstGeom>
        </p:spPr>
      </p:pic>
      <p:sp>
        <p:nvSpPr>
          <p:cNvPr id="4" name="Text 1"/>
          <p:cNvSpPr/>
          <p:nvPr/>
        </p:nvSpPr>
        <p:spPr>
          <a:xfrm>
            <a:off x="1792486" y="544592"/>
            <a:ext cx="881420" cy="224790"/>
          </a:xfrm>
          <a:prstGeom prst="rect">
            <a:avLst/>
          </a:prstGeom>
          <a:noFill/>
          <a:ln/>
        </p:spPr>
        <p:txBody>
          <a:bodyPr wrap="none" lIns="0" tIns="0" rIns="0" bIns="0" rtlCol="0" anchor="t"/>
          <a:lstStyle/>
          <a:p>
            <a:pPr marL="0" indent="0" algn="l">
              <a:lnSpc>
                <a:spcPts val="1750"/>
              </a:lnSpc>
              <a:buNone/>
            </a:pPr>
            <a:r>
              <a:rPr lang="en-US" sz="1100" dirty="0">
                <a:solidFill>
                  <a:srgbClr val="75BAE6"/>
                </a:solidFill>
                <a:latin typeface="Montserrat" pitchFamily="34" charset="0"/>
                <a:ea typeface="Montserrat" pitchFamily="34" charset="-122"/>
                <a:cs typeface="Montserrat" pitchFamily="34" charset="-120"/>
              </a:rPr>
              <a:t>OBJECTIVES</a:t>
            </a:r>
            <a:endParaRPr lang="en-US" sz="1100" dirty="0"/>
          </a:p>
        </p:txBody>
      </p:sp>
      <p:sp>
        <p:nvSpPr>
          <p:cNvPr id="5" name="Text 2"/>
          <p:cNvSpPr/>
          <p:nvPr/>
        </p:nvSpPr>
        <p:spPr>
          <a:xfrm>
            <a:off x="1469112" y="899755"/>
            <a:ext cx="8059936" cy="577572"/>
          </a:xfrm>
          <a:prstGeom prst="rect">
            <a:avLst/>
          </a:prstGeom>
          <a:noFill/>
          <a:ln/>
        </p:spPr>
        <p:txBody>
          <a:bodyPr wrap="none" lIns="0" tIns="0" rIns="0" bIns="0" rtlCol="0" anchor="t"/>
          <a:lstStyle/>
          <a:p>
            <a:pPr marL="0" indent="0" algn="l">
              <a:lnSpc>
                <a:spcPts val="4500"/>
              </a:lnSpc>
              <a:buNone/>
            </a:pPr>
            <a:r>
              <a:rPr lang="en-US" sz="3600" b="1" dirty="0">
                <a:solidFill>
                  <a:srgbClr val="2E3C4E"/>
                </a:solidFill>
                <a:latin typeface="Barlow Bold" pitchFamily="34" charset="0"/>
                <a:ea typeface="Barlow Bold" pitchFamily="34" charset="-122"/>
                <a:cs typeface="Barlow Bold" pitchFamily="34" charset="-120"/>
              </a:rPr>
              <a:t>Problem Statement and Strategic Goals</a:t>
            </a:r>
            <a:endParaRPr lang="en-US" sz="3600" dirty="0"/>
          </a:p>
        </p:txBody>
      </p:sp>
      <p:sp>
        <p:nvSpPr>
          <p:cNvPr id="6" name="Text 3"/>
          <p:cNvSpPr/>
          <p:nvPr/>
        </p:nvSpPr>
        <p:spPr>
          <a:xfrm>
            <a:off x="1469112" y="1916192"/>
            <a:ext cx="2772728" cy="346591"/>
          </a:xfrm>
          <a:prstGeom prst="rect">
            <a:avLst/>
          </a:prstGeom>
          <a:noFill/>
          <a:ln/>
        </p:spPr>
        <p:txBody>
          <a:bodyPr wrap="none" lIns="0" tIns="0" rIns="0" bIns="0" rtlCol="0" anchor="t"/>
          <a:lstStyle/>
          <a:p>
            <a:pPr marL="0" indent="0" algn="l">
              <a:lnSpc>
                <a:spcPts val="2700"/>
              </a:lnSpc>
              <a:buNone/>
            </a:pPr>
            <a:r>
              <a:rPr lang="en-US" sz="2150" b="1" dirty="0">
                <a:solidFill>
                  <a:srgbClr val="2E3C4E"/>
                </a:solidFill>
                <a:latin typeface="Barlow Bold" pitchFamily="34" charset="0"/>
                <a:ea typeface="Barlow Bold" pitchFamily="34" charset="-122"/>
                <a:cs typeface="Barlow Bold" pitchFamily="34" charset="-120"/>
              </a:rPr>
              <a:t>The Core Challenge</a:t>
            </a:r>
            <a:endParaRPr lang="en-US" sz="2150" dirty="0"/>
          </a:p>
        </p:txBody>
      </p:sp>
      <p:sp>
        <p:nvSpPr>
          <p:cNvPr id="7" name="Text 4"/>
          <p:cNvSpPr/>
          <p:nvPr/>
        </p:nvSpPr>
        <p:spPr>
          <a:xfrm>
            <a:off x="1469112" y="2438281"/>
            <a:ext cx="5631775" cy="842963"/>
          </a:xfrm>
          <a:prstGeom prst="rect">
            <a:avLst/>
          </a:prstGeom>
          <a:noFill/>
          <a:ln/>
        </p:spPr>
        <p:txBody>
          <a:bodyPr wrap="square" lIns="0" tIns="0" rIns="0" bIns="0" rtlCol="0" anchor="t"/>
          <a:lstStyle/>
          <a:p>
            <a:pPr marL="0" indent="0" algn="l">
              <a:lnSpc>
                <a:spcPts val="2200"/>
              </a:lnSpc>
              <a:buNone/>
            </a:pPr>
            <a:r>
              <a:rPr lang="en-US" sz="1350" dirty="0">
                <a:solidFill>
                  <a:srgbClr val="384653"/>
                </a:solidFill>
                <a:latin typeface="Montserrat" pitchFamily="34" charset="0"/>
                <a:ea typeface="Montserrat" pitchFamily="34" charset="-122"/>
                <a:cs typeface="Montserrat" pitchFamily="34" charset="-120"/>
              </a:rPr>
              <a:t>Determining fair and competitive salaries manually becomes unreliable and inefficient as organizations scale. Traditional approaches lack consistency and transparency.</a:t>
            </a:r>
            <a:endParaRPr lang="en-US" sz="1350" dirty="0"/>
          </a:p>
        </p:txBody>
      </p:sp>
      <p:pic>
        <p:nvPicPr>
          <p:cNvPr id="8" name="Image 1" descr="preencoded.png"/>
          <p:cNvPicPr>
            <a:picLocks noChangeAspect="1"/>
          </p:cNvPicPr>
          <p:nvPr/>
        </p:nvPicPr>
        <p:blipFill>
          <a:blip r:embed="rId5"/>
          <a:stretch>
            <a:fillRect/>
          </a:stretch>
        </p:blipFill>
        <p:spPr>
          <a:xfrm>
            <a:off x="1469112" y="3478768"/>
            <a:ext cx="5631775" cy="4068842"/>
          </a:xfrm>
          <a:prstGeom prst="rect">
            <a:avLst/>
          </a:prstGeom>
        </p:spPr>
      </p:pic>
      <p:sp>
        <p:nvSpPr>
          <p:cNvPr id="9" name="Text 5"/>
          <p:cNvSpPr/>
          <p:nvPr/>
        </p:nvSpPr>
        <p:spPr>
          <a:xfrm>
            <a:off x="7536894" y="1916192"/>
            <a:ext cx="2772728" cy="346591"/>
          </a:xfrm>
          <a:prstGeom prst="rect">
            <a:avLst/>
          </a:prstGeom>
          <a:noFill/>
          <a:ln/>
        </p:spPr>
        <p:txBody>
          <a:bodyPr wrap="none" lIns="0" tIns="0" rIns="0" bIns="0" rtlCol="0" anchor="t"/>
          <a:lstStyle/>
          <a:p>
            <a:pPr marL="0" indent="0" algn="l">
              <a:lnSpc>
                <a:spcPts val="2700"/>
              </a:lnSpc>
              <a:buNone/>
            </a:pPr>
            <a:r>
              <a:rPr lang="en-US" sz="2150" b="1" dirty="0">
                <a:solidFill>
                  <a:srgbClr val="2E3C4E"/>
                </a:solidFill>
                <a:latin typeface="Barlow Bold" pitchFamily="34" charset="0"/>
                <a:ea typeface="Barlow Bold" pitchFamily="34" charset="-122"/>
                <a:cs typeface="Barlow Bold" pitchFamily="34" charset="-120"/>
              </a:rPr>
              <a:t>Our Approach</a:t>
            </a:r>
            <a:endParaRPr lang="en-US" sz="2150" dirty="0"/>
          </a:p>
        </p:txBody>
      </p:sp>
      <p:sp>
        <p:nvSpPr>
          <p:cNvPr id="10" name="Text 6"/>
          <p:cNvSpPr/>
          <p:nvPr/>
        </p:nvSpPr>
        <p:spPr>
          <a:xfrm>
            <a:off x="7536894" y="2438281"/>
            <a:ext cx="5631775" cy="561975"/>
          </a:xfrm>
          <a:prstGeom prst="rect">
            <a:avLst/>
          </a:prstGeom>
          <a:noFill/>
          <a:ln/>
        </p:spPr>
        <p:txBody>
          <a:bodyPr wrap="square" lIns="0" tIns="0" rIns="0" bIns="0" rtlCol="0" anchor="t"/>
          <a:lstStyle/>
          <a:p>
            <a:pPr marL="0" indent="0" algn="l">
              <a:lnSpc>
                <a:spcPts val="2200"/>
              </a:lnSpc>
              <a:buNone/>
            </a:pPr>
            <a:r>
              <a:rPr lang="en-US" sz="1350" b="1" dirty="0">
                <a:solidFill>
                  <a:srgbClr val="384653"/>
                </a:solidFill>
                <a:latin typeface="Montserrat" pitchFamily="34" charset="0"/>
                <a:ea typeface="Montserrat" pitchFamily="34" charset="-122"/>
                <a:cs typeface="Montserrat" pitchFamily="34" charset="-120"/>
              </a:rPr>
              <a:t>Goal:</a:t>
            </a:r>
            <a:r>
              <a:rPr lang="en-US" sz="1350" dirty="0">
                <a:solidFill>
                  <a:srgbClr val="384653"/>
                </a:solidFill>
                <a:latin typeface="Montserrat" pitchFamily="34" charset="0"/>
                <a:ea typeface="Montserrat" pitchFamily="34" charset="-122"/>
                <a:cs typeface="Montserrat" pitchFamily="34" charset="-120"/>
              </a:rPr>
              <a:t> Classify employees into appropriate salary ranges using machine learning</a:t>
            </a:r>
            <a:endParaRPr lang="en-US" sz="1350" dirty="0"/>
          </a:p>
        </p:txBody>
      </p:sp>
      <p:sp>
        <p:nvSpPr>
          <p:cNvPr id="11" name="Text 7"/>
          <p:cNvSpPr/>
          <p:nvPr/>
        </p:nvSpPr>
        <p:spPr>
          <a:xfrm>
            <a:off x="7536894" y="3158252"/>
            <a:ext cx="5631775" cy="561975"/>
          </a:xfrm>
          <a:prstGeom prst="rect">
            <a:avLst/>
          </a:prstGeom>
          <a:noFill/>
          <a:ln/>
        </p:spPr>
        <p:txBody>
          <a:bodyPr wrap="square" lIns="0" tIns="0" rIns="0" bIns="0" rtlCol="0" anchor="t"/>
          <a:lstStyle/>
          <a:p>
            <a:pPr marL="0" indent="0" algn="l">
              <a:lnSpc>
                <a:spcPts val="2200"/>
              </a:lnSpc>
              <a:buNone/>
            </a:pPr>
            <a:r>
              <a:rPr lang="en-US" sz="1350" b="1" dirty="0">
                <a:solidFill>
                  <a:srgbClr val="384653"/>
                </a:solidFill>
                <a:latin typeface="Montserrat" pitchFamily="34" charset="0"/>
                <a:ea typeface="Montserrat" pitchFamily="34" charset="-122"/>
                <a:cs typeface="Montserrat" pitchFamily="34" charset="-120"/>
              </a:rPr>
              <a:t>Target Variable:</a:t>
            </a:r>
            <a:r>
              <a:rPr lang="en-US" sz="1350" dirty="0">
                <a:solidFill>
                  <a:srgbClr val="384653"/>
                </a:solidFill>
                <a:latin typeface="Montserrat" pitchFamily="34" charset="0"/>
                <a:ea typeface="Montserrat" pitchFamily="34" charset="-122"/>
                <a:cs typeface="Montserrat" pitchFamily="34" charset="-120"/>
              </a:rPr>
              <a:t> salary_range (Low, Medium, High) — multi-class classification</a:t>
            </a:r>
            <a:endParaRPr lang="en-US" sz="1350" dirty="0"/>
          </a:p>
        </p:txBody>
      </p:sp>
      <p:sp>
        <p:nvSpPr>
          <p:cNvPr id="12" name="Text 8"/>
          <p:cNvSpPr/>
          <p:nvPr/>
        </p:nvSpPr>
        <p:spPr>
          <a:xfrm>
            <a:off x="7536894" y="3895725"/>
            <a:ext cx="2310646" cy="288846"/>
          </a:xfrm>
          <a:prstGeom prst="rect">
            <a:avLst/>
          </a:prstGeom>
          <a:noFill/>
          <a:ln/>
        </p:spPr>
        <p:txBody>
          <a:bodyPr wrap="none" lIns="0" tIns="0" rIns="0" bIns="0" rtlCol="0" anchor="t"/>
          <a:lstStyle/>
          <a:p>
            <a:pPr marL="0" indent="0" algn="l">
              <a:lnSpc>
                <a:spcPts val="2250"/>
              </a:lnSpc>
              <a:buNone/>
            </a:pPr>
            <a:r>
              <a:rPr lang="en-US" sz="1800" b="1" dirty="0">
                <a:solidFill>
                  <a:srgbClr val="2E3C4E"/>
                </a:solidFill>
                <a:latin typeface="Barlow Bold" pitchFamily="34" charset="0"/>
                <a:ea typeface="Barlow Bold" pitchFamily="34" charset="-122"/>
                <a:cs typeface="Barlow Bold" pitchFamily="34" charset="-120"/>
              </a:rPr>
              <a:t>Key Objectives</a:t>
            </a:r>
            <a:endParaRPr lang="en-US" sz="1800" dirty="0"/>
          </a:p>
        </p:txBody>
      </p:sp>
      <p:sp>
        <p:nvSpPr>
          <p:cNvPr id="13" name="Text 9"/>
          <p:cNvSpPr/>
          <p:nvPr/>
        </p:nvSpPr>
        <p:spPr>
          <a:xfrm>
            <a:off x="7536894" y="4360069"/>
            <a:ext cx="5631775" cy="280988"/>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384653"/>
                </a:solidFill>
                <a:latin typeface="Montserrat" pitchFamily="34" charset="0"/>
                <a:ea typeface="Montserrat" pitchFamily="34" charset="-122"/>
                <a:cs typeface="Montserrat" pitchFamily="34" charset="-120"/>
              </a:rPr>
              <a:t>Analyze comprehensive employee salary-related data</a:t>
            </a:r>
            <a:endParaRPr lang="en-US" sz="1350" dirty="0"/>
          </a:p>
        </p:txBody>
      </p:sp>
      <p:sp>
        <p:nvSpPr>
          <p:cNvPr id="14" name="Text 10"/>
          <p:cNvSpPr/>
          <p:nvPr/>
        </p:nvSpPr>
        <p:spPr>
          <a:xfrm>
            <a:off x="7536894" y="4702493"/>
            <a:ext cx="5631775" cy="561975"/>
          </a:xfrm>
          <a:prstGeom prst="rect">
            <a:avLst/>
          </a:prstGeom>
          <a:noFill/>
          <a:ln/>
        </p:spPr>
        <p:txBody>
          <a:bodyPr wrap="square" lIns="0" tIns="0" rIns="0" bIns="0" rtlCol="0" anchor="t"/>
          <a:lstStyle/>
          <a:p>
            <a:pPr marL="342900" indent="-342900" algn="l">
              <a:lnSpc>
                <a:spcPts val="2200"/>
              </a:lnSpc>
              <a:buSzPct val="100000"/>
              <a:buChar char="•"/>
            </a:pPr>
            <a:r>
              <a:rPr lang="en-US" sz="1350" dirty="0">
                <a:solidFill>
                  <a:srgbClr val="384653"/>
                </a:solidFill>
                <a:latin typeface="Montserrat" pitchFamily="34" charset="0"/>
                <a:ea typeface="Montserrat" pitchFamily="34" charset="-122"/>
                <a:cs typeface="Montserrat" pitchFamily="34" charset="-120"/>
              </a:rPr>
              <a:t>Identify and address missing values, outliers, and inconsistencies</a:t>
            </a:r>
            <a:endParaRPr lang="en-US" sz="1350" dirty="0"/>
          </a:p>
        </p:txBody>
      </p:sp>
      <p:sp>
        <p:nvSpPr>
          <p:cNvPr id="15" name="Text 11"/>
          <p:cNvSpPr/>
          <p:nvPr/>
        </p:nvSpPr>
        <p:spPr>
          <a:xfrm>
            <a:off x="7536894" y="5325904"/>
            <a:ext cx="5631775" cy="561975"/>
          </a:xfrm>
          <a:prstGeom prst="rect">
            <a:avLst/>
          </a:prstGeom>
          <a:noFill/>
          <a:ln/>
        </p:spPr>
        <p:txBody>
          <a:bodyPr wrap="square" lIns="0" tIns="0" rIns="0" bIns="0" rtlCol="0" anchor="t"/>
          <a:lstStyle/>
          <a:p>
            <a:pPr marL="342900" indent="-342900" algn="l">
              <a:lnSpc>
                <a:spcPts val="2200"/>
              </a:lnSpc>
              <a:buSzPct val="100000"/>
              <a:buChar char="•"/>
            </a:pPr>
            <a:r>
              <a:rPr lang="en-US" sz="1350" dirty="0">
                <a:solidFill>
                  <a:srgbClr val="384653"/>
                </a:solidFill>
                <a:latin typeface="Montserrat" pitchFamily="34" charset="0"/>
                <a:ea typeface="Montserrat" pitchFamily="34" charset="-122"/>
                <a:cs typeface="Montserrat" pitchFamily="34" charset="-120"/>
              </a:rPr>
              <a:t>Build and rigorously compare supervised classification models</a:t>
            </a:r>
            <a:endParaRPr lang="en-US" sz="1350" dirty="0"/>
          </a:p>
        </p:txBody>
      </p:sp>
      <p:sp>
        <p:nvSpPr>
          <p:cNvPr id="16" name="Text 12"/>
          <p:cNvSpPr/>
          <p:nvPr/>
        </p:nvSpPr>
        <p:spPr>
          <a:xfrm>
            <a:off x="7536894" y="5949315"/>
            <a:ext cx="5631775" cy="280988"/>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384653"/>
                </a:solidFill>
                <a:latin typeface="Montserrat" pitchFamily="34" charset="0"/>
                <a:ea typeface="Montserrat" pitchFamily="34" charset="-122"/>
                <a:cs typeface="Montserrat" pitchFamily="34" charset="-120"/>
              </a:rPr>
              <a:t>Select the best-performing model for production use</a:t>
            </a:r>
            <a:endParaRPr lang="en-US" sz="1350" dirty="0"/>
          </a:p>
        </p:txBody>
      </p:sp>
      <p:sp>
        <p:nvSpPr>
          <p:cNvPr id="17" name="Text 13"/>
          <p:cNvSpPr/>
          <p:nvPr/>
        </p:nvSpPr>
        <p:spPr>
          <a:xfrm>
            <a:off x="7536894" y="6291739"/>
            <a:ext cx="5631775" cy="280988"/>
          </a:xfrm>
          <a:prstGeom prst="rect">
            <a:avLst/>
          </a:prstGeom>
          <a:noFill/>
          <a:ln/>
        </p:spPr>
        <p:txBody>
          <a:bodyPr wrap="none" lIns="0" tIns="0" rIns="0" bIns="0" rtlCol="0" anchor="t"/>
          <a:lstStyle/>
          <a:p>
            <a:pPr marL="342900" indent="-342900" algn="l">
              <a:lnSpc>
                <a:spcPts val="2200"/>
              </a:lnSpc>
              <a:buSzPct val="100000"/>
              <a:buChar char="•"/>
            </a:pPr>
            <a:r>
              <a:rPr lang="en-US" sz="1350" dirty="0">
                <a:solidFill>
                  <a:srgbClr val="384653"/>
                </a:solidFill>
                <a:latin typeface="Montserrat" pitchFamily="34" charset="0"/>
                <a:ea typeface="Montserrat" pitchFamily="34" charset="-122"/>
                <a:cs typeface="Montserrat" pitchFamily="34" charset="-120"/>
              </a:rPr>
              <a:t>Interpret results for actionable HR decision-making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24019" y="568881"/>
            <a:ext cx="1930241" cy="388858"/>
          </a:xfrm>
          <a:prstGeom prst="roundRect">
            <a:avLst>
              <a:gd name="adj" fmla="val 63846"/>
            </a:avLst>
          </a:prstGeom>
          <a:solidFill>
            <a:srgbClr val="D4E9F7"/>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082" y="680561"/>
            <a:ext cx="165497" cy="165497"/>
          </a:xfrm>
          <a:prstGeom prst="rect">
            <a:avLst/>
          </a:prstGeom>
        </p:spPr>
      </p:pic>
      <p:sp>
        <p:nvSpPr>
          <p:cNvPr id="4" name="Text 1"/>
          <p:cNvSpPr/>
          <p:nvPr/>
        </p:nvSpPr>
        <p:spPr>
          <a:xfrm>
            <a:off x="1096328" y="630912"/>
            <a:ext cx="1433870" cy="264795"/>
          </a:xfrm>
          <a:prstGeom prst="rect">
            <a:avLst/>
          </a:prstGeom>
          <a:noFill/>
          <a:ln/>
        </p:spPr>
        <p:txBody>
          <a:bodyPr wrap="none" lIns="0" tIns="0" rIns="0" bIns="0" rtlCol="0" anchor="t"/>
          <a:lstStyle/>
          <a:p>
            <a:pPr marL="0" indent="0" algn="l">
              <a:lnSpc>
                <a:spcPts val="2050"/>
              </a:lnSpc>
              <a:buNone/>
            </a:pPr>
            <a:r>
              <a:rPr lang="en-US" sz="1300" dirty="0">
                <a:solidFill>
                  <a:srgbClr val="384653"/>
                </a:solidFill>
                <a:latin typeface="Montserrat" pitchFamily="34" charset="0"/>
                <a:ea typeface="Montserrat" pitchFamily="34" charset="-122"/>
                <a:cs typeface="Montserrat" pitchFamily="34" charset="-120"/>
              </a:rPr>
              <a:t>DATA OVERVIEW</a:t>
            </a:r>
            <a:endParaRPr lang="en-US" sz="1300" dirty="0"/>
          </a:p>
        </p:txBody>
      </p:sp>
      <p:sp>
        <p:nvSpPr>
          <p:cNvPr id="5" name="Text 2"/>
          <p:cNvSpPr/>
          <p:nvPr/>
        </p:nvSpPr>
        <p:spPr>
          <a:xfrm>
            <a:off x="724019" y="1190387"/>
            <a:ext cx="13182362" cy="661988"/>
          </a:xfrm>
          <a:prstGeom prst="rect">
            <a:avLst/>
          </a:prstGeom>
          <a:noFill/>
          <a:ln/>
        </p:spPr>
        <p:txBody>
          <a:bodyPr wrap="squar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A simulated human resource dataset capturing employee demographics, experience, performance metrics, and compensation details for salary range prediction in tech organizations.</a:t>
            </a:r>
            <a:endParaRPr lang="en-US" sz="1600" dirty="0"/>
          </a:p>
        </p:txBody>
      </p:sp>
      <p:sp>
        <p:nvSpPr>
          <p:cNvPr id="6" name="Text 3"/>
          <p:cNvSpPr/>
          <p:nvPr/>
        </p:nvSpPr>
        <p:spPr>
          <a:xfrm>
            <a:off x="724019" y="2162651"/>
            <a:ext cx="7883962" cy="680561"/>
          </a:xfrm>
          <a:prstGeom prst="rect">
            <a:avLst/>
          </a:prstGeom>
          <a:noFill/>
          <a:ln/>
        </p:spPr>
        <p:txBody>
          <a:bodyPr wrap="none" lIns="0" tIns="0" rIns="0" bIns="0" rtlCol="0" anchor="t"/>
          <a:lstStyle/>
          <a:p>
            <a:pPr marL="0" indent="0" algn="l">
              <a:lnSpc>
                <a:spcPts val="5350"/>
              </a:lnSpc>
              <a:buNone/>
            </a:pPr>
            <a:r>
              <a:rPr lang="en-US" sz="4250" b="1" dirty="0">
                <a:solidFill>
                  <a:srgbClr val="2E3C4E"/>
                </a:solidFill>
                <a:latin typeface="Barlow Bold" pitchFamily="34" charset="0"/>
                <a:ea typeface="Barlow Bold" pitchFamily="34" charset="-122"/>
                <a:cs typeface="Barlow Bold" pitchFamily="34" charset="-120"/>
              </a:rPr>
              <a:t>Comprehensive Dataset Analysis</a:t>
            </a:r>
            <a:endParaRPr lang="en-US" sz="4250" dirty="0"/>
          </a:p>
        </p:txBody>
      </p:sp>
      <p:sp>
        <p:nvSpPr>
          <p:cNvPr id="7" name="Text 4"/>
          <p:cNvSpPr/>
          <p:nvPr/>
        </p:nvSpPr>
        <p:spPr>
          <a:xfrm>
            <a:off x="724019" y="3256836"/>
            <a:ext cx="6461879" cy="682704"/>
          </a:xfrm>
          <a:prstGeom prst="rect">
            <a:avLst/>
          </a:prstGeom>
          <a:noFill/>
          <a:ln/>
        </p:spPr>
        <p:txBody>
          <a:bodyPr wrap="none" lIns="0" tIns="0" rIns="0" bIns="0" rtlCol="0" anchor="t"/>
          <a:lstStyle/>
          <a:p>
            <a:pPr marL="0" indent="0" algn="ctr">
              <a:lnSpc>
                <a:spcPts val="5350"/>
              </a:lnSpc>
              <a:buNone/>
            </a:pPr>
            <a:r>
              <a:rPr lang="en-US" sz="5350" b="1" dirty="0">
                <a:solidFill>
                  <a:srgbClr val="384653"/>
                </a:solidFill>
                <a:latin typeface="Barlow Bold" pitchFamily="34" charset="0"/>
                <a:ea typeface="Barlow Bold" pitchFamily="34" charset="-122"/>
                <a:cs typeface="Barlow Bold" pitchFamily="34" charset="-120"/>
              </a:rPr>
              <a:t>10 000</a:t>
            </a:r>
            <a:endParaRPr lang="en-US" sz="5350" dirty="0"/>
          </a:p>
        </p:txBody>
      </p:sp>
      <p:sp>
        <p:nvSpPr>
          <p:cNvPr id="8" name="Text 5"/>
          <p:cNvSpPr/>
          <p:nvPr/>
        </p:nvSpPr>
        <p:spPr>
          <a:xfrm>
            <a:off x="2593777" y="4198025"/>
            <a:ext cx="2722245" cy="340162"/>
          </a:xfrm>
          <a:prstGeom prst="rect">
            <a:avLst/>
          </a:prstGeom>
          <a:noFill/>
          <a:ln/>
        </p:spPr>
        <p:txBody>
          <a:bodyPr wrap="none" lIns="0" tIns="0" rIns="0" bIns="0" rtlCol="0" anchor="t"/>
          <a:lstStyle/>
          <a:p>
            <a:pPr marL="0" indent="0" algn="ctr">
              <a:lnSpc>
                <a:spcPts val="2650"/>
              </a:lnSpc>
              <a:buNone/>
            </a:pPr>
            <a:r>
              <a:rPr lang="en-US" sz="2100" b="1" dirty="0">
                <a:solidFill>
                  <a:srgbClr val="384653"/>
                </a:solidFill>
                <a:latin typeface="Barlow Bold" pitchFamily="34" charset="0"/>
                <a:ea typeface="Barlow Bold" pitchFamily="34" charset="-122"/>
                <a:cs typeface="Barlow Bold" pitchFamily="34" charset="-120"/>
              </a:rPr>
              <a:t>Employee Records</a:t>
            </a:r>
            <a:endParaRPr lang="en-US" sz="2100" dirty="0"/>
          </a:p>
        </p:txBody>
      </p:sp>
      <p:sp>
        <p:nvSpPr>
          <p:cNvPr id="9" name="Text 6"/>
          <p:cNvSpPr/>
          <p:nvPr/>
        </p:nvSpPr>
        <p:spPr>
          <a:xfrm>
            <a:off x="724019" y="4662249"/>
            <a:ext cx="6461879" cy="330994"/>
          </a:xfrm>
          <a:prstGeom prst="rect">
            <a:avLst/>
          </a:prstGeom>
          <a:noFill/>
          <a:ln/>
        </p:spPr>
        <p:txBody>
          <a:bodyPr wrap="none" lIns="0" tIns="0" rIns="0" bIns="0" rtlCol="0" anchor="t"/>
          <a:lstStyle/>
          <a:p>
            <a:pPr marL="0" indent="0" algn="ctr">
              <a:lnSpc>
                <a:spcPts val="2600"/>
              </a:lnSpc>
              <a:buNone/>
            </a:pPr>
            <a:r>
              <a:rPr lang="en-US" sz="1600" dirty="0">
                <a:solidFill>
                  <a:srgbClr val="384653"/>
                </a:solidFill>
                <a:latin typeface="Montserrat" pitchFamily="34" charset="0"/>
                <a:ea typeface="Montserrat" pitchFamily="34" charset="-122"/>
                <a:cs typeface="Montserrat" pitchFamily="34" charset="-120"/>
              </a:rPr>
              <a:t>Comprehensive dataset covering diverse tech workforce</a:t>
            </a:r>
            <a:endParaRPr lang="en-US" sz="1600" dirty="0"/>
          </a:p>
        </p:txBody>
      </p:sp>
      <p:sp>
        <p:nvSpPr>
          <p:cNvPr id="10" name="Text 7"/>
          <p:cNvSpPr/>
          <p:nvPr/>
        </p:nvSpPr>
        <p:spPr>
          <a:xfrm>
            <a:off x="7444502" y="3256836"/>
            <a:ext cx="6461879" cy="682704"/>
          </a:xfrm>
          <a:prstGeom prst="rect">
            <a:avLst/>
          </a:prstGeom>
          <a:noFill/>
          <a:ln/>
        </p:spPr>
        <p:txBody>
          <a:bodyPr wrap="none" lIns="0" tIns="0" rIns="0" bIns="0" rtlCol="0" anchor="t"/>
          <a:lstStyle/>
          <a:p>
            <a:pPr marL="0" indent="0" algn="ctr">
              <a:lnSpc>
                <a:spcPts val="5350"/>
              </a:lnSpc>
              <a:buNone/>
            </a:pPr>
            <a:r>
              <a:rPr lang="en-US" sz="5350" b="1" dirty="0">
                <a:solidFill>
                  <a:srgbClr val="384653"/>
                </a:solidFill>
                <a:latin typeface="Barlow Bold" pitchFamily="34" charset="0"/>
                <a:ea typeface="Barlow Bold" pitchFamily="34" charset="-122"/>
                <a:cs typeface="Barlow Bold" pitchFamily="34" charset="-120"/>
              </a:rPr>
              <a:t>18</a:t>
            </a:r>
            <a:endParaRPr lang="en-US" sz="5350" dirty="0"/>
          </a:p>
        </p:txBody>
      </p:sp>
      <p:sp>
        <p:nvSpPr>
          <p:cNvPr id="11" name="Text 8"/>
          <p:cNvSpPr/>
          <p:nvPr/>
        </p:nvSpPr>
        <p:spPr>
          <a:xfrm>
            <a:off x="9314259" y="4198025"/>
            <a:ext cx="2722245" cy="340162"/>
          </a:xfrm>
          <a:prstGeom prst="rect">
            <a:avLst/>
          </a:prstGeom>
          <a:noFill/>
          <a:ln/>
        </p:spPr>
        <p:txBody>
          <a:bodyPr wrap="none" lIns="0" tIns="0" rIns="0" bIns="0" rtlCol="0" anchor="t"/>
          <a:lstStyle/>
          <a:p>
            <a:pPr marL="0" indent="0" algn="ctr">
              <a:lnSpc>
                <a:spcPts val="2650"/>
              </a:lnSpc>
              <a:buNone/>
            </a:pPr>
            <a:r>
              <a:rPr lang="en-US" sz="2100" b="1" dirty="0">
                <a:solidFill>
                  <a:srgbClr val="384653"/>
                </a:solidFill>
                <a:latin typeface="Barlow Bold" pitchFamily="34" charset="0"/>
                <a:ea typeface="Barlow Bold" pitchFamily="34" charset="-122"/>
                <a:cs typeface="Barlow Bold" pitchFamily="34" charset="-120"/>
              </a:rPr>
              <a:t>Total Variables</a:t>
            </a:r>
            <a:endParaRPr lang="en-US" sz="2100" dirty="0"/>
          </a:p>
        </p:txBody>
      </p:sp>
      <p:sp>
        <p:nvSpPr>
          <p:cNvPr id="12" name="Text 9"/>
          <p:cNvSpPr/>
          <p:nvPr/>
        </p:nvSpPr>
        <p:spPr>
          <a:xfrm>
            <a:off x="7444502" y="4662249"/>
            <a:ext cx="6461879" cy="330994"/>
          </a:xfrm>
          <a:prstGeom prst="rect">
            <a:avLst/>
          </a:prstGeom>
          <a:noFill/>
          <a:ln/>
        </p:spPr>
        <p:txBody>
          <a:bodyPr wrap="none" lIns="0" tIns="0" rIns="0" bIns="0" rtlCol="0" anchor="t"/>
          <a:lstStyle/>
          <a:p>
            <a:pPr marL="0" indent="0" algn="ctr">
              <a:lnSpc>
                <a:spcPts val="2600"/>
              </a:lnSpc>
              <a:buNone/>
            </a:pPr>
            <a:r>
              <a:rPr lang="en-US" sz="1600" dirty="0">
                <a:solidFill>
                  <a:srgbClr val="384653"/>
                </a:solidFill>
                <a:latin typeface="Montserrat" pitchFamily="34" charset="0"/>
                <a:ea typeface="Montserrat" pitchFamily="34" charset="-122"/>
                <a:cs typeface="Montserrat" pitchFamily="34" charset="-120"/>
              </a:rPr>
              <a:t>Numerical and categorical features</a:t>
            </a:r>
            <a:endParaRPr lang="en-US" sz="1600" dirty="0"/>
          </a:p>
        </p:txBody>
      </p:sp>
      <p:sp>
        <p:nvSpPr>
          <p:cNvPr id="13" name="Text 10"/>
          <p:cNvSpPr/>
          <p:nvPr/>
        </p:nvSpPr>
        <p:spPr>
          <a:xfrm>
            <a:off x="724019" y="5432703"/>
            <a:ext cx="3287435" cy="408384"/>
          </a:xfrm>
          <a:prstGeom prst="rect">
            <a:avLst/>
          </a:prstGeom>
          <a:noFill/>
          <a:ln/>
        </p:spPr>
        <p:txBody>
          <a:bodyPr wrap="none" lIns="0" tIns="0" rIns="0" bIns="0" rtlCol="0" anchor="t"/>
          <a:lstStyle/>
          <a:p>
            <a:pPr marL="0" indent="0" algn="l">
              <a:lnSpc>
                <a:spcPts val="3200"/>
              </a:lnSpc>
              <a:buNone/>
            </a:pPr>
            <a:r>
              <a:rPr lang="en-US" sz="2550" b="1" dirty="0">
                <a:solidFill>
                  <a:srgbClr val="2E3C4E"/>
                </a:solidFill>
                <a:latin typeface="Barlow Bold" pitchFamily="34" charset="0"/>
                <a:ea typeface="Barlow Bold" pitchFamily="34" charset="-122"/>
                <a:cs typeface="Barlow Bold" pitchFamily="34" charset="-120"/>
              </a:rPr>
              <a:t>Numerical Features (8)</a:t>
            </a:r>
            <a:endParaRPr lang="en-US" sz="2550" dirty="0"/>
          </a:p>
        </p:txBody>
      </p:sp>
      <p:sp>
        <p:nvSpPr>
          <p:cNvPr id="14" name="Text 11"/>
          <p:cNvSpPr/>
          <p:nvPr/>
        </p:nvSpPr>
        <p:spPr>
          <a:xfrm>
            <a:off x="724019" y="6047899"/>
            <a:ext cx="6338887" cy="3309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384653"/>
                </a:solidFill>
                <a:latin typeface="Montserrat" pitchFamily="34" charset="0"/>
                <a:ea typeface="Montserrat" pitchFamily="34" charset="-122"/>
                <a:cs typeface="Montserrat" pitchFamily="34" charset="-120"/>
              </a:rPr>
              <a:t>Age, years of experience, skill score</a:t>
            </a:r>
            <a:endParaRPr lang="en-US" sz="1600" dirty="0"/>
          </a:p>
        </p:txBody>
      </p:sp>
      <p:sp>
        <p:nvSpPr>
          <p:cNvPr id="15" name="Text 12"/>
          <p:cNvSpPr/>
          <p:nvPr/>
        </p:nvSpPr>
        <p:spPr>
          <a:xfrm>
            <a:off x="724019" y="6451283"/>
            <a:ext cx="6338887" cy="3309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384653"/>
                </a:solidFill>
                <a:latin typeface="Montserrat" pitchFamily="34" charset="0"/>
                <a:ea typeface="Montserrat" pitchFamily="34" charset="-122"/>
                <a:cs typeface="Montserrat" pitchFamily="34" charset="-120"/>
              </a:rPr>
              <a:t>Certifications and performance metrics</a:t>
            </a:r>
            <a:endParaRPr lang="en-US" sz="1600" dirty="0"/>
          </a:p>
        </p:txBody>
      </p:sp>
      <p:sp>
        <p:nvSpPr>
          <p:cNvPr id="16" name="Text 13"/>
          <p:cNvSpPr/>
          <p:nvPr/>
        </p:nvSpPr>
        <p:spPr>
          <a:xfrm>
            <a:off x="724019" y="6854666"/>
            <a:ext cx="6338887" cy="3309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384653"/>
                </a:solidFill>
                <a:latin typeface="Montserrat" pitchFamily="34" charset="0"/>
                <a:ea typeface="Montserrat" pitchFamily="34" charset="-122"/>
                <a:cs typeface="Montserrat" pitchFamily="34" charset="-120"/>
              </a:rPr>
              <a:t>Projects completed, overtime hours</a:t>
            </a:r>
            <a:endParaRPr lang="en-US" sz="1600" dirty="0"/>
          </a:p>
        </p:txBody>
      </p:sp>
      <p:sp>
        <p:nvSpPr>
          <p:cNvPr id="17" name="Text 14"/>
          <p:cNvSpPr/>
          <p:nvPr/>
        </p:nvSpPr>
        <p:spPr>
          <a:xfrm>
            <a:off x="724019" y="7258050"/>
            <a:ext cx="6338887" cy="3309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384653"/>
                </a:solidFill>
                <a:latin typeface="Montserrat" pitchFamily="34" charset="0"/>
                <a:ea typeface="Montserrat" pitchFamily="34" charset="-122"/>
                <a:cs typeface="Montserrat" pitchFamily="34" charset="-120"/>
              </a:rPr>
              <a:t>Monthly salary</a:t>
            </a:r>
            <a:endParaRPr lang="en-US" sz="1600" dirty="0"/>
          </a:p>
        </p:txBody>
      </p:sp>
      <p:sp>
        <p:nvSpPr>
          <p:cNvPr id="18" name="Text 15"/>
          <p:cNvSpPr/>
          <p:nvPr/>
        </p:nvSpPr>
        <p:spPr>
          <a:xfrm>
            <a:off x="7575113" y="5432703"/>
            <a:ext cx="3597473" cy="408384"/>
          </a:xfrm>
          <a:prstGeom prst="rect">
            <a:avLst/>
          </a:prstGeom>
          <a:noFill/>
          <a:ln/>
        </p:spPr>
        <p:txBody>
          <a:bodyPr wrap="none" lIns="0" tIns="0" rIns="0" bIns="0" rtlCol="0" anchor="t"/>
          <a:lstStyle/>
          <a:p>
            <a:pPr marL="0" indent="0" algn="l">
              <a:lnSpc>
                <a:spcPts val="3200"/>
              </a:lnSpc>
              <a:buNone/>
            </a:pPr>
            <a:r>
              <a:rPr lang="en-US" sz="2550" b="1" dirty="0">
                <a:solidFill>
                  <a:srgbClr val="2E3C4E"/>
                </a:solidFill>
                <a:latin typeface="Barlow Bold" pitchFamily="34" charset="0"/>
                <a:ea typeface="Barlow Bold" pitchFamily="34" charset="-122"/>
                <a:cs typeface="Barlow Bold" pitchFamily="34" charset="-120"/>
              </a:rPr>
              <a:t>Categorical Features (10)</a:t>
            </a:r>
            <a:endParaRPr lang="en-US" sz="2550" dirty="0"/>
          </a:p>
        </p:txBody>
      </p:sp>
      <p:sp>
        <p:nvSpPr>
          <p:cNvPr id="19" name="Text 16"/>
          <p:cNvSpPr/>
          <p:nvPr/>
        </p:nvSpPr>
        <p:spPr>
          <a:xfrm>
            <a:off x="7575113" y="6047899"/>
            <a:ext cx="6338887" cy="3309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384653"/>
                </a:solidFill>
                <a:latin typeface="Montserrat" pitchFamily="34" charset="0"/>
                <a:ea typeface="Montserrat" pitchFamily="34" charset="-122"/>
                <a:cs typeface="Montserrat" pitchFamily="34" charset="-120"/>
              </a:rPr>
              <a:t>Gender, marital status, education level</a:t>
            </a:r>
            <a:endParaRPr lang="en-US" sz="1600" dirty="0"/>
          </a:p>
        </p:txBody>
      </p:sp>
      <p:sp>
        <p:nvSpPr>
          <p:cNvPr id="20" name="Text 17"/>
          <p:cNvSpPr/>
          <p:nvPr/>
        </p:nvSpPr>
        <p:spPr>
          <a:xfrm>
            <a:off x="7575113" y="6451283"/>
            <a:ext cx="6338887" cy="3309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384653"/>
                </a:solidFill>
                <a:latin typeface="Montserrat" pitchFamily="34" charset="0"/>
                <a:ea typeface="Montserrat" pitchFamily="34" charset="-122"/>
                <a:cs typeface="Montserrat" pitchFamily="34" charset="-120"/>
              </a:rPr>
              <a:t>Job role, department, job level</a:t>
            </a:r>
            <a:endParaRPr lang="en-US" sz="1600" dirty="0"/>
          </a:p>
        </p:txBody>
      </p:sp>
      <p:sp>
        <p:nvSpPr>
          <p:cNvPr id="21" name="Text 18"/>
          <p:cNvSpPr/>
          <p:nvPr/>
        </p:nvSpPr>
        <p:spPr>
          <a:xfrm>
            <a:off x="7575113" y="6854666"/>
            <a:ext cx="6338887" cy="3309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384653"/>
                </a:solidFill>
                <a:latin typeface="Montserrat" pitchFamily="34" charset="0"/>
                <a:ea typeface="Montserrat" pitchFamily="34" charset="-122"/>
                <a:cs typeface="Montserrat" pitchFamily="34" charset="-120"/>
              </a:rPr>
              <a:t>Employment type, remote status</a:t>
            </a:r>
            <a:endParaRPr lang="en-US" sz="1600" dirty="0"/>
          </a:p>
        </p:txBody>
      </p:sp>
      <p:sp>
        <p:nvSpPr>
          <p:cNvPr id="22" name="Text 19"/>
          <p:cNvSpPr/>
          <p:nvPr/>
        </p:nvSpPr>
        <p:spPr>
          <a:xfrm>
            <a:off x="7575113" y="7258050"/>
            <a:ext cx="6338887" cy="33099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384653"/>
                </a:solidFill>
                <a:latin typeface="Montserrat" pitchFamily="34" charset="0"/>
                <a:ea typeface="Montserrat" pitchFamily="34" charset="-122"/>
                <a:cs typeface="Montserrat" pitchFamily="34" charset="-120"/>
              </a:rPr>
              <a:t>Company size and location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147530"/>
          </a:xfrm>
          <a:prstGeom prst="rect">
            <a:avLst/>
          </a:prstGeom>
        </p:spPr>
      </p:pic>
      <p:sp>
        <p:nvSpPr>
          <p:cNvPr id="3" name="Shape 0"/>
          <p:cNvSpPr/>
          <p:nvPr/>
        </p:nvSpPr>
        <p:spPr>
          <a:xfrm>
            <a:off x="1867972" y="2758559"/>
            <a:ext cx="1050131" cy="322659"/>
          </a:xfrm>
          <a:prstGeom prst="roundRect">
            <a:avLst>
              <a:gd name="adj" fmla="val 60857"/>
            </a:avLst>
          </a:prstGeom>
          <a:noFill/>
          <a:ln w="7620">
            <a:solidFill>
              <a:srgbClr val="75BAE6"/>
            </a:solidFill>
            <a:prstDash val="solid"/>
          </a:ln>
        </p:spPr>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73699" y="2854404"/>
            <a:ext cx="130850" cy="130850"/>
          </a:xfrm>
          <a:prstGeom prst="rect">
            <a:avLst/>
          </a:prstGeom>
        </p:spPr>
      </p:pic>
      <p:sp>
        <p:nvSpPr>
          <p:cNvPr id="5" name="Text 1"/>
          <p:cNvSpPr/>
          <p:nvPr/>
        </p:nvSpPr>
        <p:spPr>
          <a:xfrm>
            <a:off x="2169914" y="2815233"/>
            <a:ext cx="642461" cy="209312"/>
          </a:xfrm>
          <a:prstGeom prst="rect">
            <a:avLst/>
          </a:prstGeom>
          <a:noFill/>
          <a:ln/>
        </p:spPr>
        <p:txBody>
          <a:bodyPr wrap="none" lIns="0" tIns="0" rIns="0" bIns="0" rtlCol="0" anchor="t"/>
          <a:lstStyle/>
          <a:p>
            <a:pPr marL="0" indent="0" algn="l">
              <a:lnSpc>
                <a:spcPts val="1600"/>
              </a:lnSpc>
              <a:buNone/>
            </a:pPr>
            <a:r>
              <a:rPr lang="en-US" sz="1000" dirty="0">
                <a:solidFill>
                  <a:srgbClr val="75BAE6"/>
                </a:solidFill>
                <a:latin typeface="Montserrat" pitchFamily="34" charset="0"/>
                <a:ea typeface="Montserrat" pitchFamily="34" charset="-122"/>
                <a:cs typeface="Montserrat" pitchFamily="34" charset="-120"/>
              </a:rPr>
              <a:t>ANALYSIS</a:t>
            </a:r>
            <a:endParaRPr lang="en-US" sz="1000" dirty="0"/>
          </a:p>
        </p:txBody>
      </p:sp>
      <p:sp>
        <p:nvSpPr>
          <p:cNvPr id="6" name="Text 2"/>
          <p:cNvSpPr/>
          <p:nvPr/>
        </p:nvSpPr>
        <p:spPr>
          <a:xfrm>
            <a:off x="1867972" y="3146584"/>
            <a:ext cx="7546419" cy="538282"/>
          </a:xfrm>
          <a:prstGeom prst="rect">
            <a:avLst/>
          </a:prstGeom>
          <a:noFill/>
          <a:ln/>
        </p:spPr>
        <p:txBody>
          <a:bodyPr wrap="none" lIns="0" tIns="0" rIns="0" bIns="0" rtlCol="0" anchor="t"/>
          <a:lstStyle/>
          <a:p>
            <a:pPr marL="0" indent="0" algn="l">
              <a:lnSpc>
                <a:spcPts val="4200"/>
              </a:lnSpc>
              <a:buNone/>
            </a:pPr>
            <a:r>
              <a:rPr lang="en-US" sz="3350" b="1" dirty="0">
                <a:solidFill>
                  <a:srgbClr val="2E3C4E"/>
                </a:solidFill>
                <a:latin typeface="Barlow Bold" pitchFamily="34" charset="0"/>
                <a:ea typeface="Barlow Bold" pitchFamily="34" charset="-122"/>
                <a:cs typeface="Barlow Bold" pitchFamily="34" charset="-120"/>
              </a:rPr>
              <a:t>Exploratory Data Analysis: Key Findings</a:t>
            </a:r>
            <a:endParaRPr lang="en-US" sz="3350" dirty="0"/>
          </a:p>
        </p:txBody>
      </p:sp>
      <p:sp>
        <p:nvSpPr>
          <p:cNvPr id="7" name="Shape 3"/>
          <p:cNvSpPr/>
          <p:nvPr/>
        </p:nvSpPr>
        <p:spPr>
          <a:xfrm>
            <a:off x="1867972" y="3930253"/>
            <a:ext cx="3522345" cy="3586162"/>
          </a:xfrm>
          <a:prstGeom prst="roundRect">
            <a:avLst>
              <a:gd name="adj" fmla="val 3115"/>
            </a:avLst>
          </a:prstGeom>
          <a:solidFill>
            <a:srgbClr val="FFFFFF"/>
          </a:solidFill>
          <a:ln w="22860">
            <a:solidFill>
              <a:srgbClr val="75BAE6"/>
            </a:solidFill>
            <a:prstDash val="solid"/>
          </a:ln>
        </p:spPr>
      </p:sp>
      <p:sp>
        <p:nvSpPr>
          <p:cNvPr id="8" name="Shape 4"/>
          <p:cNvSpPr/>
          <p:nvPr/>
        </p:nvSpPr>
        <p:spPr>
          <a:xfrm>
            <a:off x="1845112" y="3930253"/>
            <a:ext cx="91440" cy="3586162"/>
          </a:xfrm>
          <a:prstGeom prst="roundRect">
            <a:avLst>
              <a:gd name="adj" fmla="val 268427"/>
            </a:avLst>
          </a:prstGeom>
          <a:solidFill>
            <a:srgbClr val="75BAE6"/>
          </a:solidFill>
          <a:ln/>
        </p:spPr>
      </p:sp>
      <p:sp>
        <p:nvSpPr>
          <p:cNvPr id="9" name="Text 5"/>
          <p:cNvSpPr/>
          <p:nvPr/>
        </p:nvSpPr>
        <p:spPr>
          <a:xfrm>
            <a:off x="2123003" y="4116705"/>
            <a:ext cx="2936438" cy="269081"/>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Barlow Bold" pitchFamily="34" charset="0"/>
                <a:ea typeface="Barlow Bold" pitchFamily="34" charset="-122"/>
                <a:cs typeface="Barlow Bold" pitchFamily="34" charset="-120"/>
              </a:rPr>
              <a:t>Numerical Summary Highlights</a:t>
            </a:r>
            <a:endParaRPr lang="en-US" sz="1650" dirty="0"/>
          </a:p>
        </p:txBody>
      </p:sp>
      <p:sp>
        <p:nvSpPr>
          <p:cNvPr id="10" name="Text 6"/>
          <p:cNvSpPr/>
          <p:nvPr/>
        </p:nvSpPr>
        <p:spPr>
          <a:xfrm>
            <a:off x="2123003" y="4483894"/>
            <a:ext cx="3080861"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Average age: ~40 years with diverse age distribution</a:t>
            </a:r>
            <a:endParaRPr lang="en-US" sz="1250" dirty="0"/>
          </a:p>
        </p:txBody>
      </p:sp>
      <p:sp>
        <p:nvSpPr>
          <p:cNvPr id="11" name="Text 7"/>
          <p:cNvSpPr/>
          <p:nvPr/>
        </p:nvSpPr>
        <p:spPr>
          <a:xfrm>
            <a:off x="2123003" y="5064562"/>
            <a:ext cx="3080861"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Average experience: ~7.3 years (423 missing values identified)</a:t>
            </a:r>
            <a:endParaRPr lang="en-US" sz="1250" dirty="0"/>
          </a:p>
        </p:txBody>
      </p:sp>
      <p:sp>
        <p:nvSpPr>
          <p:cNvPr id="12" name="Text 8"/>
          <p:cNvSpPr/>
          <p:nvPr/>
        </p:nvSpPr>
        <p:spPr>
          <a:xfrm>
            <a:off x="2123003" y="5645229"/>
            <a:ext cx="3080861"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Mean monthly salary: ~996,000 with significant variation</a:t>
            </a:r>
            <a:endParaRPr lang="en-US" sz="1250" dirty="0"/>
          </a:p>
        </p:txBody>
      </p:sp>
      <p:sp>
        <p:nvSpPr>
          <p:cNvPr id="13" name="Text 9"/>
          <p:cNvSpPr/>
          <p:nvPr/>
        </p:nvSpPr>
        <p:spPr>
          <a:xfrm>
            <a:off x="2123003" y="6225897"/>
            <a:ext cx="3080861"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Salary ranges from ~75,000 to over 6.5 million</a:t>
            </a:r>
            <a:endParaRPr lang="en-US" sz="1250" dirty="0"/>
          </a:p>
        </p:txBody>
      </p:sp>
      <p:sp>
        <p:nvSpPr>
          <p:cNvPr id="14" name="Text 10"/>
          <p:cNvSpPr/>
          <p:nvPr/>
        </p:nvSpPr>
        <p:spPr>
          <a:xfrm>
            <a:off x="2123003" y="6806565"/>
            <a:ext cx="3080861"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Wide variability indicates diverse, multi-level workforce</a:t>
            </a:r>
            <a:endParaRPr lang="en-US" sz="1250" dirty="0"/>
          </a:p>
        </p:txBody>
      </p:sp>
      <p:sp>
        <p:nvSpPr>
          <p:cNvPr id="15" name="Shape 11"/>
          <p:cNvSpPr/>
          <p:nvPr/>
        </p:nvSpPr>
        <p:spPr>
          <a:xfrm>
            <a:off x="5553908" y="3930253"/>
            <a:ext cx="3522464" cy="3586162"/>
          </a:xfrm>
          <a:prstGeom prst="roundRect">
            <a:avLst>
              <a:gd name="adj" fmla="val 3115"/>
            </a:avLst>
          </a:prstGeom>
          <a:solidFill>
            <a:srgbClr val="FFFFFF"/>
          </a:solidFill>
          <a:ln w="22860">
            <a:solidFill>
              <a:srgbClr val="2589C9"/>
            </a:solidFill>
            <a:prstDash val="solid"/>
          </a:ln>
        </p:spPr>
      </p:sp>
      <p:sp>
        <p:nvSpPr>
          <p:cNvPr id="16" name="Shape 12"/>
          <p:cNvSpPr/>
          <p:nvPr/>
        </p:nvSpPr>
        <p:spPr>
          <a:xfrm>
            <a:off x="5531048" y="3930253"/>
            <a:ext cx="91440" cy="3586162"/>
          </a:xfrm>
          <a:prstGeom prst="roundRect">
            <a:avLst>
              <a:gd name="adj" fmla="val 268427"/>
            </a:avLst>
          </a:prstGeom>
          <a:solidFill>
            <a:srgbClr val="2589C9"/>
          </a:solidFill>
          <a:ln/>
        </p:spPr>
      </p:sp>
      <p:sp>
        <p:nvSpPr>
          <p:cNvPr id="17" name="Text 13"/>
          <p:cNvSpPr/>
          <p:nvPr/>
        </p:nvSpPr>
        <p:spPr>
          <a:xfrm>
            <a:off x="5808940" y="4116705"/>
            <a:ext cx="2367558" cy="269081"/>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Barlow Bold" pitchFamily="34" charset="0"/>
                <a:ea typeface="Barlow Bold" pitchFamily="34" charset="-122"/>
                <a:cs typeface="Barlow Bold" pitchFamily="34" charset="-120"/>
              </a:rPr>
              <a:t>Data Quality Assessment</a:t>
            </a:r>
            <a:endParaRPr lang="en-US" sz="1650" dirty="0"/>
          </a:p>
        </p:txBody>
      </p:sp>
      <p:sp>
        <p:nvSpPr>
          <p:cNvPr id="18" name="Text 14"/>
          <p:cNvSpPr/>
          <p:nvPr/>
        </p:nvSpPr>
        <p:spPr>
          <a:xfrm>
            <a:off x="5808940" y="4483894"/>
            <a:ext cx="3080980"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Missing values isolated to years_experience (423 records)</a:t>
            </a:r>
            <a:endParaRPr lang="en-US" sz="1250" dirty="0"/>
          </a:p>
        </p:txBody>
      </p:sp>
      <p:sp>
        <p:nvSpPr>
          <p:cNvPr id="19" name="Text 15"/>
          <p:cNvSpPr/>
          <p:nvPr/>
        </p:nvSpPr>
        <p:spPr>
          <a:xfrm>
            <a:off x="5808940" y="5064562"/>
            <a:ext cx="3080980"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Outliers detected in experience (&gt;20 years)</a:t>
            </a:r>
            <a:endParaRPr lang="en-US" sz="1250" dirty="0"/>
          </a:p>
        </p:txBody>
      </p:sp>
      <p:sp>
        <p:nvSpPr>
          <p:cNvPr id="20" name="Text 16"/>
          <p:cNvSpPr/>
          <p:nvPr/>
        </p:nvSpPr>
        <p:spPr>
          <a:xfrm>
            <a:off x="5808940" y="5645229"/>
            <a:ext cx="3080980"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Inconsistent education labels (Bachelor, BSc, bachelor)</a:t>
            </a:r>
            <a:endParaRPr lang="en-US" sz="1250" dirty="0"/>
          </a:p>
        </p:txBody>
      </p:sp>
      <p:sp>
        <p:nvSpPr>
          <p:cNvPr id="21" name="Text 17"/>
          <p:cNvSpPr/>
          <p:nvPr/>
        </p:nvSpPr>
        <p:spPr>
          <a:xfrm>
            <a:off x="5808940" y="6225897"/>
            <a:ext cx="3080980" cy="261699"/>
          </a:xfrm>
          <a:prstGeom prst="rect">
            <a:avLst/>
          </a:prstGeom>
          <a:noFill/>
          <a:ln/>
        </p:spPr>
        <p:txBody>
          <a:bodyPr wrap="non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Overall data integrity is strong</a:t>
            </a:r>
            <a:endParaRPr lang="en-US" sz="1250" dirty="0"/>
          </a:p>
        </p:txBody>
      </p:sp>
      <p:sp>
        <p:nvSpPr>
          <p:cNvPr id="22" name="Shape 18"/>
          <p:cNvSpPr/>
          <p:nvPr/>
        </p:nvSpPr>
        <p:spPr>
          <a:xfrm>
            <a:off x="9239964" y="3930253"/>
            <a:ext cx="3522464" cy="3586162"/>
          </a:xfrm>
          <a:prstGeom prst="roundRect">
            <a:avLst>
              <a:gd name="adj" fmla="val 3115"/>
            </a:avLst>
          </a:prstGeom>
          <a:solidFill>
            <a:srgbClr val="FFFFFF"/>
          </a:solidFill>
          <a:ln w="22860">
            <a:solidFill>
              <a:srgbClr val="063E5F"/>
            </a:solidFill>
            <a:prstDash val="solid"/>
          </a:ln>
        </p:spPr>
      </p:sp>
      <p:sp>
        <p:nvSpPr>
          <p:cNvPr id="23" name="Shape 19"/>
          <p:cNvSpPr/>
          <p:nvPr/>
        </p:nvSpPr>
        <p:spPr>
          <a:xfrm>
            <a:off x="9217104" y="3930253"/>
            <a:ext cx="91440" cy="3586162"/>
          </a:xfrm>
          <a:prstGeom prst="roundRect">
            <a:avLst>
              <a:gd name="adj" fmla="val 268427"/>
            </a:avLst>
          </a:prstGeom>
          <a:solidFill>
            <a:srgbClr val="063E5F"/>
          </a:solidFill>
          <a:ln/>
        </p:spPr>
      </p:sp>
      <p:sp>
        <p:nvSpPr>
          <p:cNvPr id="24" name="Text 20"/>
          <p:cNvSpPr/>
          <p:nvPr/>
        </p:nvSpPr>
        <p:spPr>
          <a:xfrm>
            <a:off x="9494996" y="4116705"/>
            <a:ext cx="2153007" cy="269081"/>
          </a:xfrm>
          <a:prstGeom prst="rect">
            <a:avLst/>
          </a:prstGeom>
          <a:noFill/>
          <a:ln/>
        </p:spPr>
        <p:txBody>
          <a:bodyPr wrap="none" lIns="0" tIns="0" rIns="0" bIns="0" rtlCol="0" anchor="t"/>
          <a:lstStyle/>
          <a:p>
            <a:pPr marL="0" indent="0" algn="l">
              <a:lnSpc>
                <a:spcPts val="2100"/>
              </a:lnSpc>
              <a:buNone/>
            </a:pPr>
            <a:r>
              <a:rPr lang="en-US" sz="1650" b="1" dirty="0">
                <a:solidFill>
                  <a:srgbClr val="384653"/>
                </a:solidFill>
                <a:latin typeface="Barlow Bold" pitchFamily="34" charset="0"/>
                <a:ea typeface="Barlow Bold" pitchFamily="34" charset="-122"/>
                <a:cs typeface="Barlow Bold" pitchFamily="34" charset="-120"/>
              </a:rPr>
              <a:t>Critical Insights</a:t>
            </a:r>
            <a:endParaRPr lang="en-US" sz="1650" dirty="0"/>
          </a:p>
        </p:txBody>
      </p:sp>
      <p:sp>
        <p:nvSpPr>
          <p:cNvPr id="25" name="Text 21"/>
          <p:cNvSpPr/>
          <p:nvPr/>
        </p:nvSpPr>
        <p:spPr>
          <a:xfrm>
            <a:off x="9494996" y="4483894"/>
            <a:ext cx="3080980"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High salary range is the dominant category</a:t>
            </a:r>
            <a:endParaRPr lang="en-US" sz="1250" dirty="0"/>
          </a:p>
        </p:txBody>
      </p:sp>
      <p:sp>
        <p:nvSpPr>
          <p:cNvPr id="26" name="Text 22"/>
          <p:cNvSpPr/>
          <p:nvPr/>
        </p:nvSpPr>
        <p:spPr>
          <a:xfrm>
            <a:off x="9494996" y="5064562"/>
            <a:ext cx="3080980"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Clear correlation between higher education and salary ranges</a:t>
            </a:r>
            <a:endParaRPr lang="en-US" sz="1250" dirty="0"/>
          </a:p>
        </p:txBody>
      </p:sp>
      <p:sp>
        <p:nvSpPr>
          <p:cNvPr id="27" name="Text 23"/>
          <p:cNvSpPr/>
          <p:nvPr/>
        </p:nvSpPr>
        <p:spPr>
          <a:xfrm>
            <a:off x="9494996" y="5645229"/>
            <a:ext cx="3080980"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Experience varies widely across employee population</a:t>
            </a:r>
            <a:endParaRPr lang="en-US" sz="1250" dirty="0"/>
          </a:p>
        </p:txBody>
      </p:sp>
      <p:sp>
        <p:nvSpPr>
          <p:cNvPr id="28" name="Text 24"/>
          <p:cNvSpPr/>
          <p:nvPr/>
        </p:nvSpPr>
        <p:spPr>
          <a:xfrm>
            <a:off x="9494996" y="6225897"/>
            <a:ext cx="3080980" cy="523399"/>
          </a:xfrm>
          <a:prstGeom prst="rect">
            <a:avLst/>
          </a:prstGeom>
          <a:noFill/>
          <a:ln/>
        </p:spPr>
        <p:txBody>
          <a:bodyPr wrap="square" lIns="0" tIns="0" rIns="0" bIns="0" rtlCol="0" anchor="t"/>
          <a:lstStyle/>
          <a:p>
            <a:pPr marL="342900" indent="-342900" algn="l">
              <a:lnSpc>
                <a:spcPts val="2050"/>
              </a:lnSpc>
              <a:buSzPct val="100000"/>
              <a:buChar char="•"/>
            </a:pPr>
            <a:r>
              <a:rPr lang="en-US" sz="1250" dirty="0">
                <a:solidFill>
                  <a:srgbClr val="384653"/>
                </a:solidFill>
                <a:latin typeface="Montserrat" pitchFamily="34" charset="0"/>
                <a:ea typeface="Montserrat" pitchFamily="34" charset="-122"/>
                <a:cs typeface="Montserrat" pitchFamily="34" charset="-120"/>
              </a:rPr>
              <a:t>Education standardization required for modeling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05922" y="555665"/>
            <a:ext cx="6752153" cy="663535"/>
          </a:xfrm>
          <a:prstGeom prst="rect">
            <a:avLst/>
          </a:prstGeom>
          <a:noFill/>
          <a:ln/>
        </p:spPr>
        <p:txBody>
          <a:bodyPr wrap="none" lIns="0" tIns="0" rIns="0" bIns="0" rtlCol="0" anchor="t"/>
          <a:lstStyle/>
          <a:p>
            <a:pPr marL="0" indent="0" algn="l">
              <a:lnSpc>
                <a:spcPts val="5200"/>
              </a:lnSpc>
              <a:buNone/>
            </a:pPr>
            <a:r>
              <a:rPr lang="en-US" sz="4150" b="1" dirty="0">
                <a:solidFill>
                  <a:srgbClr val="2E3C4E"/>
                </a:solidFill>
                <a:latin typeface="Barlow Bold" pitchFamily="34" charset="0"/>
                <a:ea typeface="Barlow Bold" pitchFamily="34" charset="-122"/>
                <a:cs typeface="Barlow Bold" pitchFamily="34" charset="-120"/>
              </a:rPr>
              <a:t>Data Preprocessing Strategy</a:t>
            </a:r>
            <a:endParaRPr lang="en-US" sz="4150" dirty="0"/>
          </a:p>
        </p:txBody>
      </p:sp>
      <p:pic>
        <p:nvPicPr>
          <p:cNvPr id="3" name="Image 0" descr="preencoded.png"/>
          <p:cNvPicPr>
            <a:picLocks noChangeAspect="1"/>
          </p:cNvPicPr>
          <p:nvPr/>
        </p:nvPicPr>
        <p:blipFill>
          <a:blip r:embed="rId3"/>
          <a:stretch>
            <a:fillRect/>
          </a:stretch>
        </p:blipFill>
        <p:spPr>
          <a:xfrm>
            <a:off x="705922" y="1622584"/>
            <a:ext cx="1008578" cy="1210270"/>
          </a:xfrm>
          <a:prstGeom prst="rect">
            <a:avLst/>
          </a:prstGeom>
        </p:spPr>
      </p:pic>
      <p:sp>
        <p:nvSpPr>
          <p:cNvPr id="4" name="Text 1"/>
          <p:cNvSpPr/>
          <p:nvPr/>
        </p:nvSpPr>
        <p:spPr>
          <a:xfrm>
            <a:off x="1916192" y="1824276"/>
            <a:ext cx="2654141" cy="331708"/>
          </a:xfrm>
          <a:prstGeom prst="rect">
            <a:avLst/>
          </a:prstGeom>
          <a:noFill/>
          <a:ln/>
        </p:spPr>
        <p:txBody>
          <a:bodyPr wrap="none" lIns="0" tIns="0" rIns="0" bIns="0" rtlCol="0" anchor="t"/>
          <a:lstStyle/>
          <a:p>
            <a:pPr marL="0" indent="0" algn="l">
              <a:lnSpc>
                <a:spcPts val="2600"/>
              </a:lnSpc>
              <a:buNone/>
            </a:pPr>
            <a:r>
              <a:rPr lang="en-US" sz="2050" b="1" dirty="0">
                <a:solidFill>
                  <a:srgbClr val="384653"/>
                </a:solidFill>
                <a:latin typeface="Barlow Bold" pitchFamily="34" charset="0"/>
                <a:ea typeface="Barlow Bold" pitchFamily="34" charset="-122"/>
                <a:cs typeface="Barlow Bold" pitchFamily="34" charset="-120"/>
              </a:rPr>
              <a:t>Missing Values</a:t>
            </a:r>
            <a:endParaRPr lang="en-US" sz="2050" dirty="0"/>
          </a:p>
        </p:txBody>
      </p:sp>
      <p:sp>
        <p:nvSpPr>
          <p:cNvPr id="5" name="Text 2"/>
          <p:cNvSpPr/>
          <p:nvPr/>
        </p:nvSpPr>
        <p:spPr>
          <a:xfrm>
            <a:off x="1916192" y="2276951"/>
            <a:ext cx="12008287" cy="322659"/>
          </a:xfrm>
          <a:prstGeom prst="rect">
            <a:avLst/>
          </a:prstGeom>
          <a:noFill/>
          <a:ln/>
        </p:spPr>
        <p:txBody>
          <a:bodyPr wrap="none" lIns="0" tIns="0" rIns="0" bIns="0" rtlCol="0" anchor="t"/>
          <a:lstStyle/>
          <a:p>
            <a:pPr marL="0" indent="0" algn="l">
              <a:lnSpc>
                <a:spcPts val="2500"/>
              </a:lnSpc>
              <a:buNone/>
            </a:pPr>
            <a:r>
              <a:rPr lang="en-US" sz="1550" dirty="0">
                <a:solidFill>
                  <a:srgbClr val="384653"/>
                </a:solidFill>
                <a:latin typeface="Montserrat" pitchFamily="34" charset="0"/>
                <a:ea typeface="Montserrat" pitchFamily="34" charset="-122"/>
                <a:cs typeface="Montserrat" pitchFamily="34" charset="-120"/>
              </a:rPr>
              <a:t>Addressed 423 missing entries in years_experience using imputation techniques</a:t>
            </a:r>
            <a:endParaRPr lang="en-US" sz="1550" dirty="0"/>
          </a:p>
        </p:txBody>
      </p:sp>
      <p:pic>
        <p:nvPicPr>
          <p:cNvPr id="6" name="Image 1" descr="preencoded.png"/>
          <p:cNvPicPr>
            <a:picLocks noChangeAspect="1"/>
          </p:cNvPicPr>
          <p:nvPr/>
        </p:nvPicPr>
        <p:blipFill>
          <a:blip r:embed="rId4"/>
          <a:stretch>
            <a:fillRect/>
          </a:stretch>
        </p:blipFill>
        <p:spPr>
          <a:xfrm>
            <a:off x="705922" y="2832854"/>
            <a:ext cx="1008578" cy="1210270"/>
          </a:xfrm>
          <a:prstGeom prst="rect">
            <a:avLst/>
          </a:prstGeom>
        </p:spPr>
      </p:pic>
      <p:sp>
        <p:nvSpPr>
          <p:cNvPr id="7" name="Text 3"/>
          <p:cNvSpPr/>
          <p:nvPr/>
        </p:nvSpPr>
        <p:spPr>
          <a:xfrm>
            <a:off x="1916192" y="3034546"/>
            <a:ext cx="2654141" cy="331708"/>
          </a:xfrm>
          <a:prstGeom prst="rect">
            <a:avLst/>
          </a:prstGeom>
          <a:noFill/>
          <a:ln/>
        </p:spPr>
        <p:txBody>
          <a:bodyPr wrap="none" lIns="0" tIns="0" rIns="0" bIns="0" rtlCol="0" anchor="t"/>
          <a:lstStyle/>
          <a:p>
            <a:pPr marL="0" indent="0" algn="l">
              <a:lnSpc>
                <a:spcPts val="2600"/>
              </a:lnSpc>
              <a:buNone/>
            </a:pPr>
            <a:r>
              <a:rPr lang="en-US" sz="2050" b="1" dirty="0">
                <a:solidFill>
                  <a:srgbClr val="384653"/>
                </a:solidFill>
                <a:latin typeface="Barlow Bold" pitchFamily="34" charset="0"/>
                <a:ea typeface="Barlow Bold" pitchFamily="34" charset="-122"/>
                <a:cs typeface="Barlow Bold" pitchFamily="34" charset="-120"/>
              </a:rPr>
              <a:t>Standardization</a:t>
            </a:r>
            <a:endParaRPr lang="en-US" sz="2050" dirty="0"/>
          </a:p>
        </p:txBody>
      </p:sp>
      <p:sp>
        <p:nvSpPr>
          <p:cNvPr id="8" name="Text 4"/>
          <p:cNvSpPr/>
          <p:nvPr/>
        </p:nvSpPr>
        <p:spPr>
          <a:xfrm>
            <a:off x="1916192" y="3487222"/>
            <a:ext cx="12008287" cy="322659"/>
          </a:xfrm>
          <a:prstGeom prst="rect">
            <a:avLst/>
          </a:prstGeom>
          <a:noFill/>
          <a:ln/>
        </p:spPr>
        <p:txBody>
          <a:bodyPr wrap="none" lIns="0" tIns="0" rIns="0" bIns="0" rtlCol="0" anchor="t"/>
          <a:lstStyle/>
          <a:p>
            <a:pPr marL="0" indent="0" algn="l">
              <a:lnSpc>
                <a:spcPts val="2500"/>
              </a:lnSpc>
              <a:buNone/>
            </a:pPr>
            <a:r>
              <a:rPr lang="en-US" sz="1550" dirty="0">
                <a:solidFill>
                  <a:srgbClr val="384653"/>
                </a:solidFill>
                <a:latin typeface="Montserrat" pitchFamily="34" charset="0"/>
                <a:ea typeface="Montserrat" pitchFamily="34" charset="-122"/>
                <a:cs typeface="Montserrat" pitchFamily="34" charset="-120"/>
              </a:rPr>
              <a:t>Unified education level categories to ensure consistency</a:t>
            </a:r>
            <a:endParaRPr lang="en-US" sz="1550" dirty="0"/>
          </a:p>
        </p:txBody>
      </p:sp>
      <p:pic>
        <p:nvPicPr>
          <p:cNvPr id="9" name="Image 2" descr="preencoded.png"/>
          <p:cNvPicPr>
            <a:picLocks noChangeAspect="1"/>
          </p:cNvPicPr>
          <p:nvPr/>
        </p:nvPicPr>
        <p:blipFill>
          <a:blip r:embed="rId5"/>
          <a:stretch>
            <a:fillRect/>
          </a:stretch>
        </p:blipFill>
        <p:spPr>
          <a:xfrm>
            <a:off x="705922" y="4043124"/>
            <a:ext cx="1008578" cy="1210270"/>
          </a:xfrm>
          <a:prstGeom prst="rect">
            <a:avLst/>
          </a:prstGeom>
        </p:spPr>
      </p:pic>
      <p:sp>
        <p:nvSpPr>
          <p:cNvPr id="10" name="Text 5"/>
          <p:cNvSpPr/>
          <p:nvPr/>
        </p:nvSpPr>
        <p:spPr>
          <a:xfrm>
            <a:off x="1916192" y="4244816"/>
            <a:ext cx="2654141" cy="331708"/>
          </a:xfrm>
          <a:prstGeom prst="rect">
            <a:avLst/>
          </a:prstGeom>
          <a:noFill/>
          <a:ln/>
        </p:spPr>
        <p:txBody>
          <a:bodyPr wrap="none" lIns="0" tIns="0" rIns="0" bIns="0" rtlCol="0" anchor="t"/>
          <a:lstStyle/>
          <a:p>
            <a:pPr marL="0" indent="0" algn="l">
              <a:lnSpc>
                <a:spcPts val="2600"/>
              </a:lnSpc>
              <a:buNone/>
            </a:pPr>
            <a:r>
              <a:rPr lang="en-US" sz="2050" b="1" dirty="0">
                <a:solidFill>
                  <a:srgbClr val="384653"/>
                </a:solidFill>
                <a:latin typeface="Barlow Bold" pitchFamily="34" charset="0"/>
                <a:ea typeface="Barlow Bold" pitchFamily="34" charset="-122"/>
                <a:cs typeface="Barlow Bold" pitchFamily="34" charset="-120"/>
              </a:rPr>
              <a:t>Encoding</a:t>
            </a:r>
            <a:endParaRPr lang="en-US" sz="2050" dirty="0"/>
          </a:p>
        </p:txBody>
      </p:sp>
      <p:sp>
        <p:nvSpPr>
          <p:cNvPr id="11" name="Text 6"/>
          <p:cNvSpPr/>
          <p:nvPr/>
        </p:nvSpPr>
        <p:spPr>
          <a:xfrm>
            <a:off x="1916192" y="4697492"/>
            <a:ext cx="12008287" cy="322659"/>
          </a:xfrm>
          <a:prstGeom prst="rect">
            <a:avLst/>
          </a:prstGeom>
          <a:noFill/>
          <a:ln/>
        </p:spPr>
        <p:txBody>
          <a:bodyPr wrap="none" lIns="0" tIns="0" rIns="0" bIns="0" rtlCol="0" anchor="t"/>
          <a:lstStyle/>
          <a:p>
            <a:pPr marL="0" indent="0" algn="l">
              <a:lnSpc>
                <a:spcPts val="2500"/>
              </a:lnSpc>
              <a:buNone/>
            </a:pPr>
            <a:r>
              <a:rPr lang="en-US" sz="1550" dirty="0">
                <a:solidFill>
                  <a:srgbClr val="384653"/>
                </a:solidFill>
                <a:latin typeface="Montserrat" pitchFamily="34" charset="0"/>
                <a:ea typeface="Montserrat" pitchFamily="34" charset="-122"/>
                <a:cs typeface="Montserrat" pitchFamily="34" charset="-120"/>
              </a:rPr>
              <a:t>Converted categorical variables to numerical format for modeling</a:t>
            </a:r>
            <a:endParaRPr lang="en-US" sz="1550" dirty="0"/>
          </a:p>
        </p:txBody>
      </p:sp>
      <p:pic>
        <p:nvPicPr>
          <p:cNvPr id="12" name="Image 3" descr="preencoded.png"/>
          <p:cNvPicPr>
            <a:picLocks noChangeAspect="1"/>
          </p:cNvPicPr>
          <p:nvPr/>
        </p:nvPicPr>
        <p:blipFill>
          <a:blip r:embed="rId6"/>
          <a:stretch>
            <a:fillRect/>
          </a:stretch>
        </p:blipFill>
        <p:spPr>
          <a:xfrm>
            <a:off x="705922" y="5253395"/>
            <a:ext cx="1008578" cy="1210270"/>
          </a:xfrm>
          <a:prstGeom prst="rect">
            <a:avLst/>
          </a:prstGeom>
        </p:spPr>
      </p:pic>
      <p:sp>
        <p:nvSpPr>
          <p:cNvPr id="13" name="Text 7"/>
          <p:cNvSpPr/>
          <p:nvPr/>
        </p:nvSpPr>
        <p:spPr>
          <a:xfrm>
            <a:off x="1916192" y="5455087"/>
            <a:ext cx="2654141" cy="331708"/>
          </a:xfrm>
          <a:prstGeom prst="rect">
            <a:avLst/>
          </a:prstGeom>
          <a:noFill/>
          <a:ln/>
        </p:spPr>
        <p:txBody>
          <a:bodyPr wrap="none" lIns="0" tIns="0" rIns="0" bIns="0" rtlCol="0" anchor="t"/>
          <a:lstStyle/>
          <a:p>
            <a:pPr marL="0" indent="0" algn="l">
              <a:lnSpc>
                <a:spcPts val="2600"/>
              </a:lnSpc>
              <a:buNone/>
            </a:pPr>
            <a:r>
              <a:rPr lang="en-US" sz="2050" b="1" dirty="0">
                <a:solidFill>
                  <a:srgbClr val="384653"/>
                </a:solidFill>
                <a:latin typeface="Barlow Bold" pitchFamily="34" charset="0"/>
                <a:ea typeface="Barlow Bold" pitchFamily="34" charset="-122"/>
                <a:cs typeface="Barlow Bold" pitchFamily="34" charset="-120"/>
              </a:rPr>
              <a:t>Outlier Management</a:t>
            </a:r>
            <a:endParaRPr lang="en-US" sz="2050" dirty="0"/>
          </a:p>
        </p:txBody>
      </p:sp>
      <p:sp>
        <p:nvSpPr>
          <p:cNvPr id="14" name="Text 8"/>
          <p:cNvSpPr/>
          <p:nvPr/>
        </p:nvSpPr>
        <p:spPr>
          <a:xfrm>
            <a:off x="1916192" y="5907762"/>
            <a:ext cx="12008287" cy="322659"/>
          </a:xfrm>
          <a:prstGeom prst="rect">
            <a:avLst/>
          </a:prstGeom>
          <a:noFill/>
          <a:ln/>
        </p:spPr>
        <p:txBody>
          <a:bodyPr wrap="none" lIns="0" tIns="0" rIns="0" bIns="0" rtlCol="0" anchor="t"/>
          <a:lstStyle/>
          <a:p>
            <a:pPr marL="0" indent="0" algn="l">
              <a:lnSpc>
                <a:spcPts val="2500"/>
              </a:lnSpc>
              <a:buNone/>
            </a:pPr>
            <a:r>
              <a:rPr lang="en-US" sz="1550" dirty="0">
                <a:solidFill>
                  <a:srgbClr val="384653"/>
                </a:solidFill>
                <a:latin typeface="Montserrat" pitchFamily="34" charset="0"/>
                <a:ea typeface="Montserrat" pitchFamily="34" charset="-122"/>
                <a:cs typeface="Montserrat" pitchFamily="34" charset="-120"/>
              </a:rPr>
              <a:t>Carefully handled outliers to avoid introducing bias</a:t>
            </a:r>
            <a:endParaRPr lang="en-US" sz="1550" dirty="0"/>
          </a:p>
        </p:txBody>
      </p:sp>
      <p:pic>
        <p:nvPicPr>
          <p:cNvPr id="15" name="Image 4" descr="preencoded.png"/>
          <p:cNvPicPr>
            <a:picLocks noChangeAspect="1"/>
          </p:cNvPicPr>
          <p:nvPr/>
        </p:nvPicPr>
        <p:blipFill>
          <a:blip r:embed="rId7"/>
          <a:stretch>
            <a:fillRect/>
          </a:stretch>
        </p:blipFill>
        <p:spPr>
          <a:xfrm>
            <a:off x="705922" y="6463665"/>
            <a:ext cx="1008578" cy="1210270"/>
          </a:xfrm>
          <a:prstGeom prst="rect">
            <a:avLst/>
          </a:prstGeom>
        </p:spPr>
      </p:pic>
      <p:sp>
        <p:nvSpPr>
          <p:cNvPr id="16" name="Text 9"/>
          <p:cNvSpPr/>
          <p:nvPr/>
        </p:nvSpPr>
        <p:spPr>
          <a:xfrm>
            <a:off x="1916192" y="6665357"/>
            <a:ext cx="2654141" cy="331708"/>
          </a:xfrm>
          <a:prstGeom prst="rect">
            <a:avLst/>
          </a:prstGeom>
          <a:noFill/>
          <a:ln/>
        </p:spPr>
        <p:txBody>
          <a:bodyPr wrap="none" lIns="0" tIns="0" rIns="0" bIns="0" rtlCol="0" anchor="t"/>
          <a:lstStyle/>
          <a:p>
            <a:pPr marL="0" indent="0" algn="l">
              <a:lnSpc>
                <a:spcPts val="2600"/>
              </a:lnSpc>
              <a:buNone/>
            </a:pPr>
            <a:r>
              <a:rPr lang="en-US" sz="2050" b="1" dirty="0">
                <a:solidFill>
                  <a:srgbClr val="384653"/>
                </a:solidFill>
                <a:latin typeface="Barlow Bold" pitchFamily="34" charset="0"/>
                <a:ea typeface="Barlow Bold" pitchFamily="34" charset="-122"/>
                <a:cs typeface="Barlow Bold" pitchFamily="34" charset="-120"/>
              </a:rPr>
              <a:t>Train-Test Split</a:t>
            </a:r>
            <a:endParaRPr lang="en-US" sz="2050" dirty="0"/>
          </a:p>
        </p:txBody>
      </p:sp>
      <p:sp>
        <p:nvSpPr>
          <p:cNvPr id="17" name="Text 10"/>
          <p:cNvSpPr/>
          <p:nvPr/>
        </p:nvSpPr>
        <p:spPr>
          <a:xfrm>
            <a:off x="1916192" y="7118033"/>
            <a:ext cx="12008287" cy="322659"/>
          </a:xfrm>
          <a:prstGeom prst="rect">
            <a:avLst/>
          </a:prstGeom>
          <a:noFill/>
          <a:ln/>
        </p:spPr>
        <p:txBody>
          <a:bodyPr wrap="none" lIns="0" tIns="0" rIns="0" bIns="0" rtlCol="0" anchor="t"/>
          <a:lstStyle/>
          <a:p>
            <a:pPr marL="0" indent="0" algn="l">
              <a:lnSpc>
                <a:spcPts val="2500"/>
              </a:lnSpc>
              <a:buNone/>
            </a:pPr>
            <a:r>
              <a:rPr lang="en-US" sz="1550" dirty="0">
                <a:solidFill>
                  <a:srgbClr val="384653"/>
                </a:solidFill>
                <a:latin typeface="Montserrat" pitchFamily="34" charset="0"/>
                <a:ea typeface="Montserrat" pitchFamily="34" charset="-122"/>
                <a:cs typeface="Montserrat" pitchFamily="34" charset="-120"/>
              </a:rPr>
              <a:t>80% training, 20% testing for robust validation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708916" y="297894"/>
            <a:ext cx="981313" cy="203359"/>
          </a:xfrm>
          <a:prstGeom prst="roundRect">
            <a:avLst>
              <a:gd name="adj" fmla="val 63925"/>
            </a:avLst>
          </a:prstGeom>
          <a:solidFill>
            <a:srgbClr val="D4E9F7"/>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73805" y="356235"/>
            <a:ext cx="86558" cy="86558"/>
          </a:xfrm>
          <a:prstGeom prst="rect">
            <a:avLst/>
          </a:prstGeom>
        </p:spPr>
      </p:pic>
      <p:sp>
        <p:nvSpPr>
          <p:cNvPr id="4" name="Text 1"/>
          <p:cNvSpPr/>
          <p:nvPr/>
        </p:nvSpPr>
        <p:spPr>
          <a:xfrm>
            <a:off x="3903583" y="330279"/>
            <a:ext cx="721757" cy="138589"/>
          </a:xfrm>
          <a:prstGeom prst="rect">
            <a:avLst/>
          </a:prstGeom>
          <a:noFill/>
          <a:ln/>
        </p:spPr>
        <p:txBody>
          <a:bodyPr wrap="none" lIns="0" tIns="0" rIns="0" bIns="0" rtlCol="0" anchor="t"/>
          <a:lstStyle/>
          <a:p>
            <a:pPr marL="0" indent="0" algn="l">
              <a:lnSpc>
                <a:spcPts val="1050"/>
              </a:lnSpc>
              <a:buNone/>
            </a:pPr>
            <a:r>
              <a:rPr lang="en-US" sz="650" dirty="0">
                <a:solidFill>
                  <a:srgbClr val="384653"/>
                </a:solidFill>
                <a:latin typeface="Montserrat" pitchFamily="34" charset="0"/>
                <a:ea typeface="Montserrat" pitchFamily="34" charset="-122"/>
                <a:cs typeface="Montserrat" pitchFamily="34" charset="-120"/>
              </a:rPr>
              <a:t>METHODOLOGY</a:t>
            </a:r>
            <a:endParaRPr lang="en-US" sz="650" dirty="0"/>
          </a:p>
        </p:txBody>
      </p:sp>
      <p:sp>
        <p:nvSpPr>
          <p:cNvPr id="5" name="Text 2"/>
          <p:cNvSpPr/>
          <p:nvPr/>
        </p:nvSpPr>
        <p:spPr>
          <a:xfrm>
            <a:off x="3708916" y="544473"/>
            <a:ext cx="3519368" cy="356235"/>
          </a:xfrm>
          <a:prstGeom prst="rect">
            <a:avLst/>
          </a:prstGeom>
          <a:noFill/>
          <a:ln/>
        </p:spPr>
        <p:txBody>
          <a:bodyPr wrap="none" lIns="0" tIns="0" rIns="0" bIns="0" rtlCol="0" anchor="t"/>
          <a:lstStyle/>
          <a:p>
            <a:pPr marL="0" indent="0" algn="l">
              <a:lnSpc>
                <a:spcPts val="2800"/>
              </a:lnSpc>
              <a:buNone/>
            </a:pPr>
            <a:r>
              <a:rPr lang="en-US" sz="2200" b="1" dirty="0">
                <a:solidFill>
                  <a:srgbClr val="2E3C4E"/>
                </a:solidFill>
                <a:latin typeface="Barlow Bold" pitchFamily="34" charset="0"/>
                <a:ea typeface="Barlow Bold" pitchFamily="34" charset="-122"/>
                <a:cs typeface="Barlow Bold" pitchFamily="34" charset="-120"/>
              </a:rPr>
              <a:t>Machine Learning Approach</a:t>
            </a:r>
            <a:endParaRPr lang="en-US" sz="2200" dirty="0"/>
          </a:p>
        </p:txBody>
      </p:sp>
      <p:sp>
        <p:nvSpPr>
          <p:cNvPr id="6" name="Text 3"/>
          <p:cNvSpPr/>
          <p:nvPr/>
        </p:nvSpPr>
        <p:spPr>
          <a:xfrm>
            <a:off x="3708916" y="1171337"/>
            <a:ext cx="1710452" cy="213836"/>
          </a:xfrm>
          <a:prstGeom prst="rect">
            <a:avLst/>
          </a:prstGeom>
          <a:noFill/>
          <a:ln/>
        </p:spPr>
        <p:txBody>
          <a:bodyPr wrap="none" lIns="0" tIns="0" rIns="0" bIns="0" rtlCol="0" anchor="t"/>
          <a:lstStyle/>
          <a:p>
            <a:pPr marL="0" indent="0" algn="l">
              <a:lnSpc>
                <a:spcPts val="1650"/>
              </a:lnSpc>
              <a:buNone/>
            </a:pPr>
            <a:r>
              <a:rPr lang="en-US" sz="1300" b="1" dirty="0">
                <a:solidFill>
                  <a:srgbClr val="2E3C4E"/>
                </a:solidFill>
                <a:latin typeface="Barlow Bold" pitchFamily="34" charset="0"/>
                <a:ea typeface="Barlow Bold" pitchFamily="34" charset="-122"/>
                <a:cs typeface="Barlow Bold" pitchFamily="34" charset="-120"/>
              </a:rPr>
              <a:t>Problem Type</a:t>
            </a:r>
            <a:endParaRPr lang="en-US" sz="1300" dirty="0"/>
          </a:p>
        </p:txBody>
      </p:sp>
      <p:sp>
        <p:nvSpPr>
          <p:cNvPr id="7" name="Text 4"/>
          <p:cNvSpPr/>
          <p:nvPr/>
        </p:nvSpPr>
        <p:spPr>
          <a:xfrm>
            <a:off x="3708916" y="1493401"/>
            <a:ext cx="2726412" cy="173355"/>
          </a:xfrm>
          <a:prstGeom prst="rect">
            <a:avLst/>
          </a:prstGeom>
          <a:noFill/>
          <a:ln/>
        </p:spPr>
        <p:txBody>
          <a:bodyPr wrap="none" lIns="0" tIns="0" rIns="0" bIns="0" rtlCol="0" anchor="t"/>
          <a:lstStyle/>
          <a:p>
            <a:pPr marL="0" indent="0" algn="l">
              <a:lnSpc>
                <a:spcPts val="1350"/>
              </a:lnSpc>
              <a:buNone/>
            </a:pPr>
            <a:r>
              <a:rPr lang="en-US" sz="850" dirty="0">
                <a:solidFill>
                  <a:srgbClr val="384653"/>
                </a:solidFill>
                <a:highlight>
                  <a:srgbClr val="E5F6FF"/>
                </a:highlight>
                <a:latin typeface="Montserrat" pitchFamily="34" charset="0"/>
                <a:ea typeface="Montserrat" pitchFamily="34" charset="-122"/>
                <a:cs typeface="Montserrat" pitchFamily="34" charset="-120"/>
              </a:rPr>
              <a:t>Supervised Multi-Class Classification</a:t>
            </a:r>
            <a:endParaRPr lang="en-US" sz="850" dirty="0"/>
          </a:p>
        </p:txBody>
      </p:sp>
      <p:pic>
        <p:nvPicPr>
          <p:cNvPr id="8" name="Image 1" descr="preencoded.png"/>
          <p:cNvPicPr>
            <a:picLocks noChangeAspect="1"/>
          </p:cNvPicPr>
          <p:nvPr/>
        </p:nvPicPr>
        <p:blipFill>
          <a:blip r:embed="rId5"/>
          <a:stretch>
            <a:fillRect/>
          </a:stretch>
        </p:blipFill>
        <p:spPr>
          <a:xfrm>
            <a:off x="3708916" y="1788557"/>
            <a:ext cx="2726412" cy="3565088"/>
          </a:xfrm>
          <a:prstGeom prst="rect">
            <a:avLst/>
          </a:prstGeom>
        </p:spPr>
      </p:pic>
      <p:sp>
        <p:nvSpPr>
          <p:cNvPr id="9" name="Text 5"/>
          <p:cNvSpPr/>
          <p:nvPr/>
        </p:nvSpPr>
        <p:spPr>
          <a:xfrm>
            <a:off x="3708916" y="5475446"/>
            <a:ext cx="1710452" cy="213836"/>
          </a:xfrm>
          <a:prstGeom prst="rect">
            <a:avLst/>
          </a:prstGeom>
          <a:noFill/>
          <a:ln/>
        </p:spPr>
        <p:txBody>
          <a:bodyPr wrap="none" lIns="0" tIns="0" rIns="0" bIns="0" rtlCol="0" anchor="t"/>
          <a:lstStyle/>
          <a:p>
            <a:pPr marL="0" indent="0" algn="l">
              <a:lnSpc>
                <a:spcPts val="1650"/>
              </a:lnSpc>
              <a:buNone/>
            </a:pPr>
            <a:r>
              <a:rPr lang="en-US" sz="1300" b="1" dirty="0">
                <a:solidFill>
                  <a:srgbClr val="2E3C4E"/>
                </a:solidFill>
                <a:latin typeface="Barlow Bold" pitchFamily="34" charset="0"/>
                <a:ea typeface="Barlow Bold" pitchFamily="34" charset="-122"/>
                <a:cs typeface="Barlow Bold" pitchFamily="34" charset="-120"/>
              </a:rPr>
              <a:t>Evaluation Metrics</a:t>
            </a:r>
            <a:endParaRPr lang="en-US" sz="1300" dirty="0"/>
          </a:p>
        </p:txBody>
      </p:sp>
      <p:sp>
        <p:nvSpPr>
          <p:cNvPr id="10" name="Text 6"/>
          <p:cNvSpPr/>
          <p:nvPr/>
        </p:nvSpPr>
        <p:spPr>
          <a:xfrm>
            <a:off x="3708916" y="5797510"/>
            <a:ext cx="2726412" cy="173355"/>
          </a:xfrm>
          <a:prstGeom prst="rect">
            <a:avLst/>
          </a:prstGeom>
          <a:noFill/>
          <a:ln/>
        </p:spPr>
        <p:txBody>
          <a:bodyPr wrap="none" lIns="0" tIns="0" rIns="0" bIns="0" rtlCol="0" anchor="t"/>
          <a:lstStyle/>
          <a:p>
            <a:pPr marL="342900" indent="-342900" algn="l">
              <a:lnSpc>
                <a:spcPts val="1350"/>
              </a:lnSpc>
              <a:buSzPct val="100000"/>
              <a:buChar char="•"/>
            </a:pPr>
            <a:r>
              <a:rPr lang="en-US" sz="850" dirty="0">
                <a:solidFill>
                  <a:srgbClr val="384653"/>
                </a:solidFill>
                <a:latin typeface="Montserrat" pitchFamily="34" charset="0"/>
                <a:ea typeface="Montserrat" pitchFamily="34" charset="-122"/>
                <a:cs typeface="Montserrat" pitchFamily="34" charset="-120"/>
              </a:rPr>
              <a:t>Accuracy</a:t>
            </a:r>
            <a:endParaRPr lang="en-US" sz="850" dirty="0"/>
          </a:p>
        </p:txBody>
      </p:sp>
      <p:sp>
        <p:nvSpPr>
          <p:cNvPr id="11" name="Text 7"/>
          <p:cNvSpPr/>
          <p:nvPr/>
        </p:nvSpPr>
        <p:spPr>
          <a:xfrm>
            <a:off x="3708916" y="6008727"/>
            <a:ext cx="2726412" cy="173355"/>
          </a:xfrm>
          <a:prstGeom prst="rect">
            <a:avLst/>
          </a:prstGeom>
          <a:noFill/>
          <a:ln/>
        </p:spPr>
        <p:txBody>
          <a:bodyPr wrap="none" lIns="0" tIns="0" rIns="0" bIns="0" rtlCol="0" anchor="t"/>
          <a:lstStyle/>
          <a:p>
            <a:pPr marL="342900" indent="-342900" algn="l">
              <a:lnSpc>
                <a:spcPts val="1350"/>
              </a:lnSpc>
              <a:buSzPct val="100000"/>
              <a:buChar char="•"/>
            </a:pPr>
            <a:r>
              <a:rPr lang="en-US" sz="850" dirty="0">
                <a:solidFill>
                  <a:srgbClr val="384653"/>
                </a:solidFill>
                <a:latin typeface="Montserrat" pitchFamily="34" charset="0"/>
                <a:ea typeface="Montserrat" pitchFamily="34" charset="-122"/>
                <a:cs typeface="Montserrat" pitchFamily="34" charset="-120"/>
              </a:rPr>
              <a:t>Precision</a:t>
            </a:r>
            <a:endParaRPr lang="en-US" sz="850" dirty="0"/>
          </a:p>
        </p:txBody>
      </p:sp>
      <p:sp>
        <p:nvSpPr>
          <p:cNvPr id="12" name="Text 8"/>
          <p:cNvSpPr/>
          <p:nvPr/>
        </p:nvSpPr>
        <p:spPr>
          <a:xfrm>
            <a:off x="3708916" y="6219944"/>
            <a:ext cx="2726412" cy="173355"/>
          </a:xfrm>
          <a:prstGeom prst="rect">
            <a:avLst/>
          </a:prstGeom>
          <a:noFill/>
          <a:ln/>
        </p:spPr>
        <p:txBody>
          <a:bodyPr wrap="none" lIns="0" tIns="0" rIns="0" bIns="0" rtlCol="0" anchor="t"/>
          <a:lstStyle/>
          <a:p>
            <a:pPr marL="342900" indent="-342900" algn="l">
              <a:lnSpc>
                <a:spcPts val="1350"/>
              </a:lnSpc>
              <a:buSzPct val="100000"/>
              <a:buChar char="•"/>
            </a:pPr>
            <a:r>
              <a:rPr lang="en-US" sz="850" dirty="0">
                <a:solidFill>
                  <a:srgbClr val="384653"/>
                </a:solidFill>
                <a:latin typeface="Montserrat" pitchFamily="34" charset="0"/>
                <a:ea typeface="Montserrat" pitchFamily="34" charset="-122"/>
                <a:cs typeface="Montserrat" pitchFamily="34" charset="-120"/>
              </a:rPr>
              <a:t>Recall</a:t>
            </a:r>
            <a:endParaRPr lang="en-US" sz="850" dirty="0"/>
          </a:p>
        </p:txBody>
      </p:sp>
      <p:sp>
        <p:nvSpPr>
          <p:cNvPr id="13" name="Text 9"/>
          <p:cNvSpPr/>
          <p:nvPr/>
        </p:nvSpPr>
        <p:spPr>
          <a:xfrm>
            <a:off x="3708916" y="6431161"/>
            <a:ext cx="2726412" cy="173355"/>
          </a:xfrm>
          <a:prstGeom prst="rect">
            <a:avLst/>
          </a:prstGeom>
          <a:noFill/>
          <a:ln/>
        </p:spPr>
        <p:txBody>
          <a:bodyPr wrap="none" lIns="0" tIns="0" rIns="0" bIns="0" rtlCol="0" anchor="t"/>
          <a:lstStyle/>
          <a:p>
            <a:pPr marL="342900" indent="-342900" algn="l">
              <a:lnSpc>
                <a:spcPts val="1350"/>
              </a:lnSpc>
              <a:buSzPct val="100000"/>
              <a:buChar char="•"/>
            </a:pPr>
            <a:r>
              <a:rPr lang="en-US" sz="850" dirty="0">
                <a:solidFill>
                  <a:srgbClr val="384653"/>
                </a:solidFill>
                <a:latin typeface="Montserrat" pitchFamily="34" charset="0"/>
                <a:ea typeface="Montserrat" pitchFamily="34" charset="-122"/>
                <a:cs typeface="Montserrat" pitchFamily="34" charset="-120"/>
              </a:rPr>
              <a:t>F1-score</a:t>
            </a:r>
            <a:endParaRPr lang="en-US" sz="850" dirty="0"/>
          </a:p>
        </p:txBody>
      </p:sp>
      <p:sp>
        <p:nvSpPr>
          <p:cNvPr id="14" name="Text 10"/>
          <p:cNvSpPr/>
          <p:nvPr/>
        </p:nvSpPr>
        <p:spPr>
          <a:xfrm>
            <a:off x="3708916" y="6642378"/>
            <a:ext cx="2726412" cy="173355"/>
          </a:xfrm>
          <a:prstGeom prst="rect">
            <a:avLst/>
          </a:prstGeom>
          <a:noFill/>
          <a:ln/>
        </p:spPr>
        <p:txBody>
          <a:bodyPr wrap="none" lIns="0" tIns="0" rIns="0" bIns="0" rtlCol="0" anchor="t"/>
          <a:lstStyle/>
          <a:p>
            <a:pPr marL="342900" indent="-342900" algn="l">
              <a:lnSpc>
                <a:spcPts val="1350"/>
              </a:lnSpc>
              <a:buSzPct val="100000"/>
              <a:buChar char="•"/>
            </a:pPr>
            <a:r>
              <a:rPr lang="en-US" sz="850" dirty="0">
                <a:solidFill>
                  <a:srgbClr val="384653"/>
                </a:solidFill>
                <a:latin typeface="Montserrat" pitchFamily="34" charset="0"/>
                <a:ea typeface="Montserrat" pitchFamily="34" charset="-122"/>
                <a:cs typeface="Montserrat" pitchFamily="34" charset="-120"/>
              </a:rPr>
              <a:t>ROC-AUC</a:t>
            </a:r>
            <a:endParaRPr lang="en-US" sz="850" dirty="0"/>
          </a:p>
        </p:txBody>
      </p:sp>
      <p:sp>
        <p:nvSpPr>
          <p:cNvPr id="15" name="Text 11"/>
          <p:cNvSpPr/>
          <p:nvPr/>
        </p:nvSpPr>
        <p:spPr>
          <a:xfrm>
            <a:off x="6707267" y="1171337"/>
            <a:ext cx="1710452" cy="213836"/>
          </a:xfrm>
          <a:prstGeom prst="rect">
            <a:avLst/>
          </a:prstGeom>
          <a:noFill/>
          <a:ln/>
        </p:spPr>
        <p:txBody>
          <a:bodyPr wrap="none" lIns="0" tIns="0" rIns="0" bIns="0" rtlCol="0" anchor="t"/>
          <a:lstStyle/>
          <a:p>
            <a:pPr marL="0" indent="0" algn="l">
              <a:lnSpc>
                <a:spcPts val="1650"/>
              </a:lnSpc>
              <a:buNone/>
            </a:pPr>
            <a:r>
              <a:rPr lang="en-US" sz="1300" b="1" dirty="0">
                <a:solidFill>
                  <a:srgbClr val="2E3C4E"/>
                </a:solidFill>
                <a:latin typeface="Barlow Bold" pitchFamily="34" charset="0"/>
                <a:ea typeface="Barlow Bold" pitchFamily="34" charset="-122"/>
                <a:cs typeface="Barlow Bold" pitchFamily="34" charset="-120"/>
              </a:rPr>
              <a:t>Models Evaluated</a:t>
            </a:r>
            <a:endParaRPr lang="en-US" sz="1300" dirty="0"/>
          </a:p>
        </p:txBody>
      </p:sp>
      <p:sp>
        <p:nvSpPr>
          <p:cNvPr id="16" name="Shape 12"/>
          <p:cNvSpPr/>
          <p:nvPr/>
        </p:nvSpPr>
        <p:spPr>
          <a:xfrm>
            <a:off x="6707267" y="1669375"/>
            <a:ext cx="4221718" cy="853916"/>
          </a:xfrm>
          <a:prstGeom prst="roundRect">
            <a:avLst>
              <a:gd name="adj" fmla="val 8567"/>
            </a:avLst>
          </a:prstGeom>
          <a:solidFill>
            <a:srgbClr val="FFFFFF"/>
          </a:solidFill>
          <a:ln/>
        </p:spPr>
      </p:sp>
      <p:pic>
        <p:nvPicPr>
          <p:cNvPr id="17" name="Image 2" descr="preencoded.png"/>
          <p:cNvPicPr>
            <a:picLocks noChangeAspect="1"/>
          </p:cNvPicPr>
          <p:nvPr/>
        </p:nvPicPr>
        <p:blipFill>
          <a:blip r:embed="rId6"/>
          <a:stretch>
            <a:fillRect/>
          </a:stretch>
        </p:blipFill>
        <p:spPr>
          <a:xfrm>
            <a:off x="6707267" y="1654135"/>
            <a:ext cx="4221718" cy="60960"/>
          </a:xfrm>
          <a:prstGeom prst="rect">
            <a:avLst/>
          </a:prstGeom>
        </p:spPr>
      </p:pic>
      <p:pic>
        <p:nvPicPr>
          <p:cNvPr id="18" name="Image 3" descr="preencoded.png"/>
          <p:cNvPicPr>
            <a:picLocks noChangeAspect="1"/>
          </p:cNvPicPr>
          <p:nvPr/>
        </p:nvPicPr>
        <p:blipFill>
          <a:blip r:embed="rId7"/>
          <a:stretch>
            <a:fillRect/>
          </a:stretch>
        </p:blipFill>
        <p:spPr>
          <a:xfrm>
            <a:off x="8655665" y="1506974"/>
            <a:ext cx="324922" cy="324922"/>
          </a:xfrm>
          <a:prstGeom prst="rect">
            <a:avLst/>
          </a:prstGeom>
        </p:spPr>
      </p:pic>
      <p:sp>
        <p:nvSpPr>
          <p:cNvPr id="19" name="Text 13"/>
          <p:cNvSpPr/>
          <p:nvPr/>
        </p:nvSpPr>
        <p:spPr>
          <a:xfrm>
            <a:off x="8753177" y="1588175"/>
            <a:ext cx="129897" cy="162401"/>
          </a:xfrm>
          <a:prstGeom prst="rect">
            <a:avLst/>
          </a:prstGeom>
          <a:noFill/>
          <a:ln/>
        </p:spPr>
        <p:txBody>
          <a:bodyPr wrap="none" lIns="0" tIns="0" rIns="0" bIns="0" rtlCol="0" anchor="t"/>
          <a:lstStyle/>
          <a:p>
            <a:pPr marL="0" indent="0" algn="l">
              <a:lnSpc>
                <a:spcPts val="1600"/>
              </a:lnSpc>
              <a:buNone/>
            </a:pPr>
            <a:r>
              <a:rPr lang="en-US" sz="1000" b="1" dirty="0">
                <a:solidFill>
                  <a:srgbClr val="000000"/>
                </a:solidFill>
                <a:latin typeface="Barlow Bold" pitchFamily="34" charset="0"/>
                <a:ea typeface="Barlow Bold" pitchFamily="34" charset="-122"/>
                <a:cs typeface="Barlow Bold" pitchFamily="34" charset="-120"/>
              </a:rPr>
              <a:t>1</a:t>
            </a:r>
            <a:endParaRPr lang="en-US" sz="1000" dirty="0"/>
          </a:p>
        </p:txBody>
      </p:sp>
      <p:sp>
        <p:nvSpPr>
          <p:cNvPr id="20" name="Text 14"/>
          <p:cNvSpPr/>
          <p:nvPr/>
        </p:nvSpPr>
        <p:spPr>
          <a:xfrm>
            <a:off x="6830735" y="1940123"/>
            <a:ext cx="1425297" cy="178118"/>
          </a:xfrm>
          <a:prstGeom prst="rect">
            <a:avLst/>
          </a:prstGeom>
          <a:noFill/>
          <a:ln/>
        </p:spPr>
        <p:txBody>
          <a:bodyPr wrap="none" lIns="0" tIns="0" rIns="0" bIns="0" rtlCol="0" anchor="t"/>
          <a:lstStyle/>
          <a:p>
            <a:pPr marL="0" indent="0" algn="l">
              <a:lnSpc>
                <a:spcPts val="1400"/>
              </a:lnSpc>
              <a:buNone/>
            </a:pPr>
            <a:r>
              <a:rPr lang="en-US" sz="1100" b="1" dirty="0">
                <a:solidFill>
                  <a:srgbClr val="384653"/>
                </a:solidFill>
                <a:latin typeface="Barlow Bold" pitchFamily="34" charset="0"/>
                <a:ea typeface="Barlow Bold" pitchFamily="34" charset="-122"/>
                <a:cs typeface="Barlow Bold" pitchFamily="34" charset="-120"/>
              </a:rPr>
              <a:t>Logistic Regression</a:t>
            </a:r>
            <a:endParaRPr lang="en-US" sz="1100" dirty="0"/>
          </a:p>
        </p:txBody>
      </p:sp>
      <p:sp>
        <p:nvSpPr>
          <p:cNvPr id="21" name="Text 15"/>
          <p:cNvSpPr/>
          <p:nvPr/>
        </p:nvSpPr>
        <p:spPr>
          <a:xfrm>
            <a:off x="6830735" y="2226469"/>
            <a:ext cx="3974783" cy="173355"/>
          </a:xfrm>
          <a:prstGeom prst="rect">
            <a:avLst/>
          </a:prstGeom>
          <a:noFill/>
          <a:ln/>
        </p:spPr>
        <p:txBody>
          <a:bodyPr wrap="none" lIns="0" tIns="0" rIns="0" bIns="0" rtlCol="0" anchor="t"/>
          <a:lstStyle/>
          <a:p>
            <a:pPr marL="0" indent="0" algn="l">
              <a:lnSpc>
                <a:spcPts val="1350"/>
              </a:lnSpc>
              <a:buNone/>
            </a:pPr>
            <a:r>
              <a:rPr lang="en-US" sz="850" dirty="0">
                <a:solidFill>
                  <a:srgbClr val="384653"/>
                </a:solidFill>
                <a:latin typeface="Montserrat" pitchFamily="34" charset="0"/>
                <a:ea typeface="Montserrat" pitchFamily="34" charset="-122"/>
                <a:cs typeface="Montserrat" pitchFamily="34" charset="-120"/>
              </a:rPr>
              <a:t>Baseline linear model for classification</a:t>
            </a:r>
            <a:endParaRPr lang="en-US" sz="850" dirty="0"/>
          </a:p>
        </p:txBody>
      </p:sp>
      <p:sp>
        <p:nvSpPr>
          <p:cNvPr id="22" name="Shape 16"/>
          <p:cNvSpPr/>
          <p:nvPr/>
        </p:nvSpPr>
        <p:spPr>
          <a:xfrm>
            <a:off x="6707267" y="2793921"/>
            <a:ext cx="4221718" cy="853916"/>
          </a:xfrm>
          <a:prstGeom prst="roundRect">
            <a:avLst>
              <a:gd name="adj" fmla="val 8567"/>
            </a:avLst>
          </a:prstGeom>
          <a:solidFill>
            <a:srgbClr val="FFFFFF"/>
          </a:solidFill>
          <a:ln/>
        </p:spPr>
      </p:sp>
      <p:pic>
        <p:nvPicPr>
          <p:cNvPr id="23" name="Image 4" descr="preencoded.png"/>
          <p:cNvPicPr>
            <a:picLocks noChangeAspect="1"/>
          </p:cNvPicPr>
          <p:nvPr/>
        </p:nvPicPr>
        <p:blipFill>
          <a:blip r:embed="rId6"/>
          <a:stretch>
            <a:fillRect/>
          </a:stretch>
        </p:blipFill>
        <p:spPr>
          <a:xfrm>
            <a:off x="6707267" y="2778681"/>
            <a:ext cx="4221718" cy="60960"/>
          </a:xfrm>
          <a:prstGeom prst="rect">
            <a:avLst/>
          </a:prstGeom>
        </p:spPr>
      </p:pic>
      <p:pic>
        <p:nvPicPr>
          <p:cNvPr id="24" name="Image 5" descr="preencoded.png"/>
          <p:cNvPicPr>
            <a:picLocks noChangeAspect="1"/>
          </p:cNvPicPr>
          <p:nvPr/>
        </p:nvPicPr>
        <p:blipFill>
          <a:blip r:embed="rId7"/>
          <a:stretch>
            <a:fillRect/>
          </a:stretch>
        </p:blipFill>
        <p:spPr>
          <a:xfrm>
            <a:off x="8655665" y="2631519"/>
            <a:ext cx="324922" cy="324922"/>
          </a:xfrm>
          <a:prstGeom prst="rect">
            <a:avLst/>
          </a:prstGeom>
        </p:spPr>
      </p:pic>
      <p:sp>
        <p:nvSpPr>
          <p:cNvPr id="25" name="Text 17"/>
          <p:cNvSpPr/>
          <p:nvPr/>
        </p:nvSpPr>
        <p:spPr>
          <a:xfrm>
            <a:off x="8753177" y="2712720"/>
            <a:ext cx="129897" cy="162401"/>
          </a:xfrm>
          <a:prstGeom prst="rect">
            <a:avLst/>
          </a:prstGeom>
          <a:noFill/>
          <a:ln/>
        </p:spPr>
        <p:txBody>
          <a:bodyPr wrap="none" lIns="0" tIns="0" rIns="0" bIns="0" rtlCol="0" anchor="t"/>
          <a:lstStyle/>
          <a:p>
            <a:pPr marL="0" indent="0" algn="l">
              <a:lnSpc>
                <a:spcPts val="1600"/>
              </a:lnSpc>
              <a:buNone/>
            </a:pPr>
            <a:r>
              <a:rPr lang="en-US" sz="1000" b="1" dirty="0">
                <a:solidFill>
                  <a:srgbClr val="000000"/>
                </a:solidFill>
                <a:latin typeface="Barlow Bold" pitchFamily="34" charset="0"/>
                <a:ea typeface="Barlow Bold" pitchFamily="34" charset="-122"/>
                <a:cs typeface="Barlow Bold" pitchFamily="34" charset="-120"/>
              </a:rPr>
              <a:t>2</a:t>
            </a:r>
            <a:endParaRPr lang="en-US" sz="1000" dirty="0"/>
          </a:p>
        </p:txBody>
      </p:sp>
      <p:sp>
        <p:nvSpPr>
          <p:cNvPr id="26" name="Text 18"/>
          <p:cNvSpPr/>
          <p:nvPr/>
        </p:nvSpPr>
        <p:spPr>
          <a:xfrm>
            <a:off x="6830735" y="3064669"/>
            <a:ext cx="1513284" cy="178118"/>
          </a:xfrm>
          <a:prstGeom prst="rect">
            <a:avLst/>
          </a:prstGeom>
          <a:noFill/>
          <a:ln/>
        </p:spPr>
        <p:txBody>
          <a:bodyPr wrap="none" lIns="0" tIns="0" rIns="0" bIns="0" rtlCol="0" anchor="t"/>
          <a:lstStyle/>
          <a:p>
            <a:pPr marL="0" indent="0" algn="l">
              <a:lnSpc>
                <a:spcPts val="1400"/>
              </a:lnSpc>
              <a:buNone/>
            </a:pPr>
            <a:r>
              <a:rPr lang="en-US" sz="1100" b="1" dirty="0">
                <a:solidFill>
                  <a:srgbClr val="384653"/>
                </a:solidFill>
                <a:latin typeface="Barlow Bold" pitchFamily="34" charset="0"/>
                <a:ea typeface="Barlow Bold" pitchFamily="34" charset="-122"/>
                <a:cs typeface="Barlow Bold" pitchFamily="34" charset="-120"/>
              </a:rPr>
              <a:t>Support Vector Machine</a:t>
            </a:r>
            <a:endParaRPr lang="en-US" sz="1100" dirty="0"/>
          </a:p>
        </p:txBody>
      </p:sp>
      <p:sp>
        <p:nvSpPr>
          <p:cNvPr id="27" name="Text 19"/>
          <p:cNvSpPr/>
          <p:nvPr/>
        </p:nvSpPr>
        <p:spPr>
          <a:xfrm>
            <a:off x="6830735" y="3351014"/>
            <a:ext cx="3974783" cy="173355"/>
          </a:xfrm>
          <a:prstGeom prst="rect">
            <a:avLst/>
          </a:prstGeom>
          <a:noFill/>
          <a:ln/>
        </p:spPr>
        <p:txBody>
          <a:bodyPr wrap="none" lIns="0" tIns="0" rIns="0" bIns="0" rtlCol="0" anchor="t"/>
          <a:lstStyle/>
          <a:p>
            <a:pPr marL="0" indent="0" algn="l">
              <a:lnSpc>
                <a:spcPts val="1350"/>
              </a:lnSpc>
              <a:buNone/>
            </a:pPr>
            <a:r>
              <a:rPr lang="en-US" sz="850" dirty="0">
                <a:solidFill>
                  <a:srgbClr val="384653"/>
                </a:solidFill>
                <a:latin typeface="Montserrat" pitchFamily="34" charset="0"/>
                <a:ea typeface="Montserrat" pitchFamily="34" charset="-122"/>
                <a:cs typeface="Montserrat" pitchFamily="34" charset="-120"/>
              </a:rPr>
              <a:t>Kernel-based classification approach</a:t>
            </a:r>
            <a:endParaRPr lang="en-US" sz="850" dirty="0"/>
          </a:p>
        </p:txBody>
      </p:sp>
      <p:sp>
        <p:nvSpPr>
          <p:cNvPr id="28" name="Shape 20"/>
          <p:cNvSpPr/>
          <p:nvPr/>
        </p:nvSpPr>
        <p:spPr>
          <a:xfrm>
            <a:off x="6707267" y="3918466"/>
            <a:ext cx="4221718" cy="853916"/>
          </a:xfrm>
          <a:prstGeom prst="roundRect">
            <a:avLst>
              <a:gd name="adj" fmla="val 8567"/>
            </a:avLst>
          </a:prstGeom>
          <a:solidFill>
            <a:srgbClr val="FFFFFF"/>
          </a:solidFill>
          <a:ln/>
        </p:spPr>
      </p:sp>
      <p:pic>
        <p:nvPicPr>
          <p:cNvPr id="29" name="Image 6" descr="preencoded.png"/>
          <p:cNvPicPr>
            <a:picLocks noChangeAspect="1"/>
          </p:cNvPicPr>
          <p:nvPr/>
        </p:nvPicPr>
        <p:blipFill>
          <a:blip r:embed="rId6"/>
          <a:stretch>
            <a:fillRect/>
          </a:stretch>
        </p:blipFill>
        <p:spPr>
          <a:xfrm>
            <a:off x="6707267" y="3903226"/>
            <a:ext cx="4221718" cy="60960"/>
          </a:xfrm>
          <a:prstGeom prst="rect">
            <a:avLst/>
          </a:prstGeom>
        </p:spPr>
      </p:pic>
      <p:pic>
        <p:nvPicPr>
          <p:cNvPr id="30" name="Image 7" descr="preencoded.png"/>
          <p:cNvPicPr>
            <a:picLocks noChangeAspect="1"/>
          </p:cNvPicPr>
          <p:nvPr/>
        </p:nvPicPr>
        <p:blipFill>
          <a:blip r:embed="rId7"/>
          <a:stretch>
            <a:fillRect/>
          </a:stretch>
        </p:blipFill>
        <p:spPr>
          <a:xfrm>
            <a:off x="8655665" y="3756065"/>
            <a:ext cx="324922" cy="324922"/>
          </a:xfrm>
          <a:prstGeom prst="rect">
            <a:avLst/>
          </a:prstGeom>
        </p:spPr>
      </p:pic>
      <p:sp>
        <p:nvSpPr>
          <p:cNvPr id="31" name="Text 21"/>
          <p:cNvSpPr/>
          <p:nvPr/>
        </p:nvSpPr>
        <p:spPr>
          <a:xfrm>
            <a:off x="8753177" y="3837265"/>
            <a:ext cx="129897" cy="162401"/>
          </a:xfrm>
          <a:prstGeom prst="rect">
            <a:avLst/>
          </a:prstGeom>
          <a:noFill/>
          <a:ln/>
        </p:spPr>
        <p:txBody>
          <a:bodyPr wrap="none" lIns="0" tIns="0" rIns="0" bIns="0" rtlCol="0" anchor="t"/>
          <a:lstStyle/>
          <a:p>
            <a:pPr marL="0" indent="0" algn="l">
              <a:lnSpc>
                <a:spcPts val="1600"/>
              </a:lnSpc>
              <a:buNone/>
            </a:pPr>
            <a:r>
              <a:rPr lang="en-US" sz="1000" b="1" dirty="0">
                <a:solidFill>
                  <a:srgbClr val="000000"/>
                </a:solidFill>
                <a:latin typeface="Barlow Bold" pitchFamily="34" charset="0"/>
                <a:ea typeface="Barlow Bold" pitchFamily="34" charset="-122"/>
                <a:cs typeface="Barlow Bold" pitchFamily="34" charset="-120"/>
              </a:rPr>
              <a:t>3</a:t>
            </a:r>
            <a:endParaRPr lang="en-US" sz="1000" dirty="0"/>
          </a:p>
        </p:txBody>
      </p:sp>
      <p:sp>
        <p:nvSpPr>
          <p:cNvPr id="32" name="Text 22"/>
          <p:cNvSpPr/>
          <p:nvPr/>
        </p:nvSpPr>
        <p:spPr>
          <a:xfrm>
            <a:off x="6830735" y="4189214"/>
            <a:ext cx="1425297" cy="178118"/>
          </a:xfrm>
          <a:prstGeom prst="rect">
            <a:avLst/>
          </a:prstGeom>
          <a:noFill/>
          <a:ln/>
        </p:spPr>
        <p:txBody>
          <a:bodyPr wrap="none" lIns="0" tIns="0" rIns="0" bIns="0" rtlCol="0" anchor="t"/>
          <a:lstStyle/>
          <a:p>
            <a:pPr marL="0" indent="0" algn="l">
              <a:lnSpc>
                <a:spcPts val="1400"/>
              </a:lnSpc>
              <a:buNone/>
            </a:pPr>
            <a:r>
              <a:rPr lang="en-US" sz="1100" b="1" dirty="0">
                <a:solidFill>
                  <a:srgbClr val="384653"/>
                </a:solidFill>
                <a:latin typeface="Barlow Bold" pitchFamily="34" charset="0"/>
                <a:ea typeface="Barlow Bold" pitchFamily="34" charset="-122"/>
                <a:cs typeface="Barlow Bold" pitchFamily="34" charset="-120"/>
              </a:rPr>
              <a:t>K-Nearest Neighbors</a:t>
            </a:r>
            <a:endParaRPr lang="en-US" sz="1100" dirty="0"/>
          </a:p>
        </p:txBody>
      </p:sp>
      <p:sp>
        <p:nvSpPr>
          <p:cNvPr id="33" name="Text 23"/>
          <p:cNvSpPr/>
          <p:nvPr/>
        </p:nvSpPr>
        <p:spPr>
          <a:xfrm>
            <a:off x="6830735" y="4475559"/>
            <a:ext cx="3974783" cy="173355"/>
          </a:xfrm>
          <a:prstGeom prst="rect">
            <a:avLst/>
          </a:prstGeom>
          <a:noFill/>
          <a:ln/>
        </p:spPr>
        <p:txBody>
          <a:bodyPr wrap="none" lIns="0" tIns="0" rIns="0" bIns="0" rtlCol="0" anchor="t"/>
          <a:lstStyle/>
          <a:p>
            <a:pPr marL="0" indent="0" algn="l">
              <a:lnSpc>
                <a:spcPts val="1350"/>
              </a:lnSpc>
              <a:buNone/>
            </a:pPr>
            <a:r>
              <a:rPr lang="en-US" sz="850" dirty="0">
                <a:solidFill>
                  <a:srgbClr val="384653"/>
                </a:solidFill>
                <a:latin typeface="Montserrat" pitchFamily="34" charset="0"/>
                <a:ea typeface="Montserrat" pitchFamily="34" charset="-122"/>
                <a:cs typeface="Montserrat" pitchFamily="34" charset="-120"/>
              </a:rPr>
              <a:t>Instance-based learning algorithm</a:t>
            </a:r>
            <a:endParaRPr lang="en-US" sz="850" dirty="0"/>
          </a:p>
        </p:txBody>
      </p:sp>
      <p:sp>
        <p:nvSpPr>
          <p:cNvPr id="34" name="Shape 24"/>
          <p:cNvSpPr/>
          <p:nvPr/>
        </p:nvSpPr>
        <p:spPr>
          <a:xfrm>
            <a:off x="6707267" y="5043011"/>
            <a:ext cx="4221718" cy="853916"/>
          </a:xfrm>
          <a:prstGeom prst="roundRect">
            <a:avLst>
              <a:gd name="adj" fmla="val 8567"/>
            </a:avLst>
          </a:prstGeom>
          <a:solidFill>
            <a:srgbClr val="FFFFFF"/>
          </a:solidFill>
          <a:ln/>
        </p:spPr>
      </p:sp>
      <p:pic>
        <p:nvPicPr>
          <p:cNvPr id="35" name="Image 8" descr="preencoded.png"/>
          <p:cNvPicPr>
            <a:picLocks noChangeAspect="1"/>
          </p:cNvPicPr>
          <p:nvPr/>
        </p:nvPicPr>
        <p:blipFill>
          <a:blip r:embed="rId6"/>
          <a:stretch>
            <a:fillRect/>
          </a:stretch>
        </p:blipFill>
        <p:spPr>
          <a:xfrm>
            <a:off x="6707267" y="5027771"/>
            <a:ext cx="4221718" cy="60960"/>
          </a:xfrm>
          <a:prstGeom prst="rect">
            <a:avLst/>
          </a:prstGeom>
        </p:spPr>
      </p:pic>
      <p:pic>
        <p:nvPicPr>
          <p:cNvPr id="36" name="Image 9" descr="preencoded.png"/>
          <p:cNvPicPr>
            <a:picLocks noChangeAspect="1"/>
          </p:cNvPicPr>
          <p:nvPr/>
        </p:nvPicPr>
        <p:blipFill>
          <a:blip r:embed="rId7"/>
          <a:stretch>
            <a:fillRect/>
          </a:stretch>
        </p:blipFill>
        <p:spPr>
          <a:xfrm>
            <a:off x="8655665" y="4880610"/>
            <a:ext cx="324922" cy="324922"/>
          </a:xfrm>
          <a:prstGeom prst="rect">
            <a:avLst/>
          </a:prstGeom>
        </p:spPr>
      </p:pic>
      <p:sp>
        <p:nvSpPr>
          <p:cNvPr id="37" name="Text 25"/>
          <p:cNvSpPr/>
          <p:nvPr/>
        </p:nvSpPr>
        <p:spPr>
          <a:xfrm>
            <a:off x="8753177" y="4961811"/>
            <a:ext cx="129897" cy="162401"/>
          </a:xfrm>
          <a:prstGeom prst="rect">
            <a:avLst/>
          </a:prstGeom>
          <a:noFill/>
          <a:ln/>
        </p:spPr>
        <p:txBody>
          <a:bodyPr wrap="none" lIns="0" tIns="0" rIns="0" bIns="0" rtlCol="0" anchor="t"/>
          <a:lstStyle/>
          <a:p>
            <a:pPr marL="0" indent="0" algn="l">
              <a:lnSpc>
                <a:spcPts val="1600"/>
              </a:lnSpc>
              <a:buNone/>
            </a:pPr>
            <a:r>
              <a:rPr lang="en-US" sz="1000" b="1" dirty="0">
                <a:solidFill>
                  <a:srgbClr val="000000"/>
                </a:solidFill>
                <a:latin typeface="Barlow Bold" pitchFamily="34" charset="0"/>
                <a:ea typeface="Barlow Bold" pitchFamily="34" charset="-122"/>
                <a:cs typeface="Barlow Bold" pitchFamily="34" charset="-120"/>
              </a:rPr>
              <a:t>4</a:t>
            </a:r>
            <a:endParaRPr lang="en-US" sz="1000" dirty="0"/>
          </a:p>
        </p:txBody>
      </p:sp>
      <p:sp>
        <p:nvSpPr>
          <p:cNvPr id="38" name="Text 26"/>
          <p:cNvSpPr/>
          <p:nvPr/>
        </p:nvSpPr>
        <p:spPr>
          <a:xfrm>
            <a:off x="6830735" y="5313759"/>
            <a:ext cx="1425297" cy="178118"/>
          </a:xfrm>
          <a:prstGeom prst="rect">
            <a:avLst/>
          </a:prstGeom>
          <a:noFill/>
          <a:ln/>
        </p:spPr>
        <p:txBody>
          <a:bodyPr wrap="none" lIns="0" tIns="0" rIns="0" bIns="0" rtlCol="0" anchor="t"/>
          <a:lstStyle/>
          <a:p>
            <a:pPr marL="0" indent="0" algn="l">
              <a:lnSpc>
                <a:spcPts val="1400"/>
              </a:lnSpc>
              <a:buNone/>
            </a:pPr>
            <a:r>
              <a:rPr lang="en-US" sz="1100" b="1" dirty="0">
                <a:solidFill>
                  <a:srgbClr val="384653"/>
                </a:solidFill>
                <a:latin typeface="Barlow Bold" pitchFamily="34" charset="0"/>
                <a:ea typeface="Barlow Bold" pitchFamily="34" charset="-122"/>
                <a:cs typeface="Barlow Bold" pitchFamily="34" charset="-120"/>
              </a:rPr>
              <a:t>Decision Tree</a:t>
            </a:r>
            <a:endParaRPr lang="en-US" sz="1100" dirty="0"/>
          </a:p>
        </p:txBody>
      </p:sp>
      <p:sp>
        <p:nvSpPr>
          <p:cNvPr id="39" name="Text 27"/>
          <p:cNvSpPr/>
          <p:nvPr/>
        </p:nvSpPr>
        <p:spPr>
          <a:xfrm>
            <a:off x="6830735" y="5600105"/>
            <a:ext cx="3974783" cy="173355"/>
          </a:xfrm>
          <a:prstGeom prst="rect">
            <a:avLst/>
          </a:prstGeom>
          <a:noFill/>
          <a:ln/>
        </p:spPr>
        <p:txBody>
          <a:bodyPr wrap="none" lIns="0" tIns="0" rIns="0" bIns="0" rtlCol="0" anchor="t"/>
          <a:lstStyle/>
          <a:p>
            <a:pPr marL="0" indent="0" algn="l">
              <a:lnSpc>
                <a:spcPts val="1350"/>
              </a:lnSpc>
              <a:buNone/>
            </a:pPr>
            <a:r>
              <a:rPr lang="en-US" sz="850" dirty="0">
                <a:solidFill>
                  <a:srgbClr val="384653"/>
                </a:solidFill>
                <a:latin typeface="Montserrat" pitchFamily="34" charset="0"/>
                <a:ea typeface="Montserrat" pitchFamily="34" charset="-122"/>
                <a:cs typeface="Montserrat" pitchFamily="34" charset="-120"/>
              </a:rPr>
              <a:t>Rule-based hierarchical classifier</a:t>
            </a:r>
            <a:endParaRPr lang="en-US" sz="850" dirty="0"/>
          </a:p>
        </p:txBody>
      </p:sp>
      <p:sp>
        <p:nvSpPr>
          <p:cNvPr id="40" name="Shape 28"/>
          <p:cNvSpPr/>
          <p:nvPr/>
        </p:nvSpPr>
        <p:spPr>
          <a:xfrm>
            <a:off x="6707267" y="6167557"/>
            <a:ext cx="4221718" cy="853916"/>
          </a:xfrm>
          <a:prstGeom prst="roundRect">
            <a:avLst>
              <a:gd name="adj" fmla="val 8567"/>
            </a:avLst>
          </a:prstGeom>
          <a:solidFill>
            <a:srgbClr val="FFFFFF"/>
          </a:solidFill>
          <a:ln/>
        </p:spPr>
      </p:sp>
      <p:pic>
        <p:nvPicPr>
          <p:cNvPr id="41" name="Image 10" descr="preencoded.png"/>
          <p:cNvPicPr>
            <a:picLocks noChangeAspect="1"/>
          </p:cNvPicPr>
          <p:nvPr/>
        </p:nvPicPr>
        <p:blipFill>
          <a:blip r:embed="rId6"/>
          <a:stretch>
            <a:fillRect/>
          </a:stretch>
        </p:blipFill>
        <p:spPr>
          <a:xfrm>
            <a:off x="6707267" y="6152317"/>
            <a:ext cx="4221718" cy="60960"/>
          </a:xfrm>
          <a:prstGeom prst="rect">
            <a:avLst/>
          </a:prstGeom>
        </p:spPr>
      </p:pic>
      <p:pic>
        <p:nvPicPr>
          <p:cNvPr id="42" name="Image 11" descr="preencoded.png"/>
          <p:cNvPicPr>
            <a:picLocks noChangeAspect="1"/>
          </p:cNvPicPr>
          <p:nvPr/>
        </p:nvPicPr>
        <p:blipFill>
          <a:blip r:embed="rId7"/>
          <a:stretch>
            <a:fillRect/>
          </a:stretch>
        </p:blipFill>
        <p:spPr>
          <a:xfrm>
            <a:off x="8655665" y="6005155"/>
            <a:ext cx="324922" cy="324922"/>
          </a:xfrm>
          <a:prstGeom prst="rect">
            <a:avLst/>
          </a:prstGeom>
        </p:spPr>
      </p:pic>
      <p:sp>
        <p:nvSpPr>
          <p:cNvPr id="43" name="Text 29"/>
          <p:cNvSpPr/>
          <p:nvPr/>
        </p:nvSpPr>
        <p:spPr>
          <a:xfrm>
            <a:off x="8753177" y="6086356"/>
            <a:ext cx="129897" cy="162401"/>
          </a:xfrm>
          <a:prstGeom prst="rect">
            <a:avLst/>
          </a:prstGeom>
          <a:noFill/>
          <a:ln/>
        </p:spPr>
        <p:txBody>
          <a:bodyPr wrap="none" lIns="0" tIns="0" rIns="0" bIns="0" rtlCol="0" anchor="t"/>
          <a:lstStyle/>
          <a:p>
            <a:pPr marL="0" indent="0" algn="l">
              <a:lnSpc>
                <a:spcPts val="1600"/>
              </a:lnSpc>
              <a:buNone/>
            </a:pPr>
            <a:r>
              <a:rPr lang="en-US" sz="1000" b="1" dirty="0">
                <a:solidFill>
                  <a:srgbClr val="000000"/>
                </a:solidFill>
                <a:latin typeface="Barlow Bold" pitchFamily="34" charset="0"/>
                <a:ea typeface="Barlow Bold" pitchFamily="34" charset="-122"/>
                <a:cs typeface="Barlow Bold" pitchFamily="34" charset="-120"/>
              </a:rPr>
              <a:t>5</a:t>
            </a:r>
            <a:endParaRPr lang="en-US" sz="1000" dirty="0"/>
          </a:p>
        </p:txBody>
      </p:sp>
      <p:sp>
        <p:nvSpPr>
          <p:cNvPr id="44" name="Text 30"/>
          <p:cNvSpPr/>
          <p:nvPr/>
        </p:nvSpPr>
        <p:spPr>
          <a:xfrm>
            <a:off x="6830735" y="6438305"/>
            <a:ext cx="1425297" cy="178118"/>
          </a:xfrm>
          <a:prstGeom prst="rect">
            <a:avLst/>
          </a:prstGeom>
          <a:noFill/>
          <a:ln/>
        </p:spPr>
        <p:txBody>
          <a:bodyPr wrap="none" lIns="0" tIns="0" rIns="0" bIns="0" rtlCol="0" anchor="t"/>
          <a:lstStyle/>
          <a:p>
            <a:pPr marL="0" indent="0" algn="l">
              <a:lnSpc>
                <a:spcPts val="1400"/>
              </a:lnSpc>
              <a:buNone/>
            </a:pPr>
            <a:r>
              <a:rPr lang="en-US" sz="1100" b="1" dirty="0">
                <a:solidFill>
                  <a:srgbClr val="384653"/>
                </a:solidFill>
                <a:latin typeface="Barlow Bold" pitchFamily="34" charset="0"/>
                <a:ea typeface="Barlow Bold" pitchFamily="34" charset="-122"/>
                <a:cs typeface="Barlow Bold" pitchFamily="34" charset="-120"/>
              </a:rPr>
              <a:t>Random Forest</a:t>
            </a:r>
            <a:endParaRPr lang="en-US" sz="1100" dirty="0"/>
          </a:p>
        </p:txBody>
      </p:sp>
      <p:sp>
        <p:nvSpPr>
          <p:cNvPr id="45" name="Text 31"/>
          <p:cNvSpPr/>
          <p:nvPr/>
        </p:nvSpPr>
        <p:spPr>
          <a:xfrm>
            <a:off x="6830735" y="6724650"/>
            <a:ext cx="3974783" cy="173355"/>
          </a:xfrm>
          <a:prstGeom prst="rect">
            <a:avLst/>
          </a:prstGeom>
          <a:noFill/>
          <a:ln/>
        </p:spPr>
        <p:txBody>
          <a:bodyPr wrap="none" lIns="0" tIns="0" rIns="0" bIns="0" rtlCol="0" anchor="t"/>
          <a:lstStyle/>
          <a:p>
            <a:pPr marL="0" indent="0" algn="l">
              <a:lnSpc>
                <a:spcPts val="1350"/>
              </a:lnSpc>
              <a:buNone/>
            </a:pPr>
            <a:r>
              <a:rPr lang="en-US" sz="850" dirty="0">
                <a:solidFill>
                  <a:srgbClr val="384653"/>
                </a:solidFill>
                <a:latin typeface="Montserrat" pitchFamily="34" charset="0"/>
                <a:ea typeface="Montserrat" pitchFamily="34" charset="-122"/>
                <a:cs typeface="Montserrat" pitchFamily="34" charset="-120"/>
              </a:rPr>
              <a:t>Ensemble of decision trees</a:t>
            </a:r>
            <a:endParaRPr lang="en-US" sz="850" dirty="0"/>
          </a:p>
        </p:txBody>
      </p:sp>
      <p:sp>
        <p:nvSpPr>
          <p:cNvPr id="46" name="Shape 32"/>
          <p:cNvSpPr/>
          <p:nvPr/>
        </p:nvSpPr>
        <p:spPr>
          <a:xfrm>
            <a:off x="6707267" y="7292102"/>
            <a:ext cx="4221718" cy="853916"/>
          </a:xfrm>
          <a:prstGeom prst="roundRect">
            <a:avLst>
              <a:gd name="adj" fmla="val 8567"/>
            </a:avLst>
          </a:prstGeom>
          <a:solidFill>
            <a:srgbClr val="FFFFFF"/>
          </a:solidFill>
          <a:ln/>
        </p:spPr>
      </p:sp>
      <p:pic>
        <p:nvPicPr>
          <p:cNvPr id="47" name="Image 12" descr="preencoded.png"/>
          <p:cNvPicPr>
            <a:picLocks noChangeAspect="1"/>
          </p:cNvPicPr>
          <p:nvPr/>
        </p:nvPicPr>
        <p:blipFill>
          <a:blip r:embed="rId6"/>
          <a:stretch>
            <a:fillRect/>
          </a:stretch>
        </p:blipFill>
        <p:spPr>
          <a:xfrm>
            <a:off x="6707267" y="7276862"/>
            <a:ext cx="4221718" cy="60960"/>
          </a:xfrm>
          <a:prstGeom prst="rect">
            <a:avLst/>
          </a:prstGeom>
        </p:spPr>
      </p:pic>
      <p:pic>
        <p:nvPicPr>
          <p:cNvPr id="48" name="Image 13" descr="preencoded.png"/>
          <p:cNvPicPr>
            <a:picLocks noChangeAspect="1"/>
          </p:cNvPicPr>
          <p:nvPr/>
        </p:nvPicPr>
        <p:blipFill>
          <a:blip r:embed="rId7"/>
          <a:stretch>
            <a:fillRect/>
          </a:stretch>
        </p:blipFill>
        <p:spPr>
          <a:xfrm>
            <a:off x="8655665" y="7129701"/>
            <a:ext cx="324922" cy="324922"/>
          </a:xfrm>
          <a:prstGeom prst="rect">
            <a:avLst/>
          </a:prstGeom>
        </p:spPr>
      </p:pic>
      <p:sp>
        <p:nvSpPr>
          <p:cNvPr id="49" name="Text 33"/>
          <p:cNvSpPr/>
          <p:nvPr/>
        </p:nvSpPr>
        <p:spPr>
          <a:xfrm>
            <a:off x="8753177" y="7210901"/>
            <a:ext cx="129897" cy="162401"/>
          </a:xfrm>
          <a:prstGeom prst="rect">
            <a:avLst/>
          </a:prstGeom>
          <a:noFill/>
          <a:ln/>
        </p:spPr>
        <p:txBody>
          <a:bodyPr wrap="none" lIns="0" tIns="0" rIns="0" bIns="0" rtlCol="0" anchor="t"/>
          <a:lstStyle/>
          <a:p>
            <a:pPr marL="0" indent="0" algn="l">
              <a:lnSpc>
                <a:spcPts val="1600"/>
              </a:lnSpc>
              <a:buNone/>
            </a:pPr>
            <a:r>
              <a:rPr lang="en-US" sz="1000" b="1" dirty="0">
                <a:solidFill>
                  <a:srgbClr val="000000"/>
                </a:solidFill>
                <a:latin typeface="Barlow Bold" pitchFamily="34" charset="0"/>
                <a:ea typeface="Barlow Bold" pitchFamily="34" charset="-122"/>
                <a:cs typeface="Barlow Bold" pitchFamily="34" charset="-120"/>
              </a:rPr>
              <a:t>6</a:t>
            </a:r>
            <a:endParaRPr lang="en-US" sz="1000" dirty="0"/>
          </a:p>
        </p:txBody>
      </p:sp>
      <p:sp>
        <p:nvSpPr>
          <p:cNvPr id="50" name="Text 34"/>
          <p:cNvSpPr/>
          <p:nvPr/>
        </p:nvSpPr>
        <p:spPr>
          <a:xfrm>
            <a:off x="6830735" y="7562850"/>
            <a:ext cx="1425297" cy="178118"/>
          </a:xfrm>
          <a:prstGeom prst="rect">
            <a:avLst/>
          </a:prstGeom>
          <a:noFill/>
          <a:ln/>
        </p:spPr>
        <p:txBody>
          <a:bodyPr wrap="none" lIns="0" tIns="0" rIns="0" bIns="0" rtlCol="0" anchor="t"/>
          <a:lstStyle/>
          <a:p>
            <a:pPr marL="0" indent="0" algn="l">
              <a:lnSpc>
                <a:spcPts val="1400"/>
              </a:lnSpc>
              <a:buNone/>
            </a:pPr>
            <a:r>
              <a:rPr lang="en-US" sz="1100" b="1" dirty="0">
                <a:solidFill>
                  <a:srgbClr val="384653"/>
                </a:solidFill>
                <a:latin typeface="Barlow Bold" pitchFamily="34" charset="0"/>
                <a:ea typeface="Barlow Bold" pitchFamily="34" charset="-122"/>
                <a:cs typeface="Barlow Bold" pitchFamily="34" charset="-120"/>
              </a:rPr>
              <a:t>Gradient Boosting</a:t>
            </a:r>
            <a:endParaRPr lang="en-US" sz="1100" dirty="0"/>
          </a:p>
        </p:txBody>
      </p:sp>
      <p:sp>
        <p:nvSpPr>
          <p:cNvPr id="51" name="Text 35"/>
          <p:cNvSpPr/>
          <p:nvPr/>
        </p:nvSpPr>
        <p:spPr>
          <a:xfrm>
            <a:off x="6830735" y="7849195"/>
            <a:ext cx="3974783" cy="173355"/>
          </a:xfrm>
          <a:prstGeom prst="rect">
            <a:avLst/>
          </a:prstGeom>
          <a:noFill/>
          <a:ln/>
        </p:spPr>
        <p:txBody>
          <a:bodyPr wrap="none" lIns="0" tIns="0" rIns="0" bIns="0" rtlCol="0" anchor="t"/>
          <a:lstStyle/>
          <a:p>
            <a:pPr marL="0" indent="0" algn="l">
              <a:lnSpc>
                <a:spcPts val="1350"/>
              </a:lnSpc>
              <a:buNone/>
            </a:pPr>
            <a:r>
              <a:rPr lang="en-US" sz="850" dirty="0">
                <a:solidFill>
                  <a:srgbClr val="384653"/>
                </a:solidFill>
                <a:latin typeface="Montserrat" pitchFamily="34" charset="0"/>
                <a:ea typeface="Montserrat" pitchFamily="34" charset="-122"/>
                <a:cs typeface="Montserrat" pitchFamily="34" charset="-120"/>
              </a:rPr>
              <a:t>Sequential ensemble learning</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24733" y="571619"/>
            <a:ext cx="1239679" cy="388977"/>
          </a:xfrm>
          <a:prstGeom prst="roundRect">
            <a:avLst>
              <a:gd name="adj" fmla="val 63881"/>
            </a:avLst>
          </a:prstGeom>
          <a:solidFill>
            <a:srgbClr val="D4E9F7"/>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8916" y="683300"/>
            <a:ext cx="165616" cy="165616"/>
          </a:xfrm>
          <a:prstGeom prst="rect">
            <a:avLst/>
          </a:prstGeom>
        </p:spPr>
      </p:pic>
      <p:sp>
        <p:nvSpPr>
          <p:cNvPr id="4" name="Text 1"/>
          <p:cNvSpPr/>
          <p:nvPr/>
        </p:nvSpPr>
        <p:spPr>
          <a:xfrm>
            <a:off x="1097280" y="633651"/>
            <a:ext cx="742950" cy="264914"/>
          </a:xfrm>
          <a:prstGeom prst="rect">
            <a:avLst/>
          </a:prstGeom>
          <a:noFill/>
          <a:ln/>
        </p:spPr>
        <p:txBody>
          <a:bodyPr wrap="none" lIns="0" tIns="0" rIns="0" bIns="0" rtlCol="0" anchor="t"/>
          <a:lstStyle/>
          <a:p>
            <a:pPr marL="0" indent="0" algn="l">
              <a:lnSpc>
                <a:spcPts val="2050"/>
              </a:lnSpc>
              <a:buNone/>
            </a:pPr>
            <a:r>
              <a:rPr lang="en-US" sz="1300" dirty="0">
                <a:solidFill>
                  <a:srgbClr val="384653"/>
                </a:solidFill>
                <a:latin typeface="Montserrat" pitchFamily="34" charset="0"/>
                <a:ea typeface="Montserrat" pitchFamily="34" charset="-122"/>
                <a:cs typeface="Montserrat" pitchFamily="34" charset="-120"/>
              </a:rPr>
              <a:t>RESULTS</a:t>
            </a:r>
            <a:endParaRPr lang="en-US" sz="1300" dirty="0"/>
          </a:p>
        </p:txBody>
      </p:sp>
      <p:sp>
        <p:nvSpPr>
          <p:cNvPr id="5" name="Text 2"/>
          <p:cNvSpPr/>
          <p:nvPr/>
        </p:nvSpPr>
        <p:spPr>
          <a:xfrm>
            <a:off x="724733" y="1043345"/>
            <a:ext cx="7709416" cy="681157"/>
          </a:xfrm>
          <a:prstGeom prst="rect">
            <a:avLst/>
          </a:prstGeom>
          <a:noFill/>
          <a:ln/>
        </p:spPr>
        <p:txBody>
          <a:bodyPr wrap="none" lIns="0" tIns="0" rIns="0" bIns="0" rtlCol="0" anchor="t"/>
          <a:lstStyle/>
          <a:p>
            <a:pPr marL="0" indent="0" algn="l">
              <a:lnSpc>
                <a:spcPts val="5350"/>
              </a:lnSpc>
              <a:buNone/>
            </a:pPr>
            <a:r>
              <a:rPr lang="en-US" sz="4250" b="1" dirty="0">
                <a:solidFill>
                  <a:srgbClr val="2E3C4E"/>
                </a:solidFill>
                <a:latin typeface="Barlow Bold" pitchFamily="34" charset="0"/>
                <a:ea typeface="Barlow Bold" pitchFamily="34" charset="-122"/>
                <a:cs typeface="Barlow Bold" pitchFamily="34" charset="-120"/>
              </a:rPr>
              <a:t>Model Performance Comparison</a:t>
            </a:r>
            <a:endParaRPr lang="en-US" sz="4250" dirty="0"/>
          </a:p>
        </p:txBody>
      </p:sp>
      <p:sp>
        <p:nvSpPr>
          <p:cNvPr id="6" name="Shape 3"/>
          <p:cNvSpPr/>
          <p:nvPr/>
        </p:nvSpPr>
        <p:spPr>
          <a:xfrm>
            <a:off x="724733" y="2035016"/>
            <a:ext cx="13180933" cy="4179094"/>
          </a:xfrm>
          <a:prstGeom prst="roundRect">
            <a:avLst>
              <a:gd name="adj" fmla="val 7432"/>
            </a:avLst>
          </a:prstGeom>
          <a:noFill/>
          <a:ln w="7620">
            <a:solidFill>
              <a:srgbClr val="000000">
                <a:alpha val="8000"/>
              </a:srgbClr>
            </a:solidFill>
            <a:prstDash val="solid"/>
          </a:ln>
        </p:spPr>
      </p:sp>
      <p:sp>
        <p:nvSpPr>
          <p:cNvPr id="7" name="Shape 4"/>
          <p:cNvSpPr/>
          <p:nvPr/>
        </p:nvSpPr>
        <p:spPr>
          <a:xfrm>
            <a:off x="732353" y="2042636"/>
            <a:ext cx="13165693" cy="594836"/>
          </a:xfrm>
          <a:prstGeom prst="rect">
            <a:avLst/>
          </a:prstGeom>
          <a:solidFill>
            <a:srgbClr val="FFFFFF">
              <a:alpha val="4000"/>
            </a:srgbClr>
          </a:solidFill>
          <a:ln/>
        </p:spPr>
      </p:sp>
      <p:sp>
        <p:nvSpPr>
          <p:cNvPr id="8" name="Text 5"/>
          <p:cNvSpPr/>
          <p:nvPr/>
        </p:nvSpPr>
        <p:spPr>
          <a:xfrm>
            <a:off x="939879" y="2174438"/>
            <a:ext cx="2873454" cy="331232"/>
          </a:xfrm>
          <a:prstGeom prst="rect">
            <a:avLst/>
          </a:prstGeom>
          <a:noFill/>
          <a:ln/>
        </p:spPr>
        <p:txBody>
          <a:bodyPr wrap="none" lIns="0" tIns="0" rIns="0" bIns="0" rtlCol="0" anchor="t"/>
          <a:lstStyle/>
          <a:p>
            <a:pPr marL="0" indent="0" algn="l">
              <a:lnSpc>
                <a:spcPts val="2600"/>
              </a:lnSpc>
              <a:buNone/>
            </a:pPr>
            <a:r>
              <a:rPr lang="en-US" sz="1600" b="1" dirty="0">
                <a:solidFill>
                  <a:srgbClr val="384653"/>
                </a:solidFill>
                <a:latin typeface="Montserrat" pitchFamily="34" charset="0"/>
                <a:ea typeface="Montserrat" pitchFamily="34" charset="-122"/>
                <a:cs typeface="Montserrat" pitchFamily="34" charset="-120"/>
              </a:rPr>
              <a:t>Model</a:t>
            </a:r>
            <a:endParaRPr lang="en-US" sz="1600" dirty="0"/>
          </a:p>
        </p:txBody>
      </p:sp>
      <p:sp>
        <p:nvSpPr>
          <p:cNvPr id="9" name="Text 6"/>
          <p:cNvSpPr/>
          <p:nvPr/>
        </p:nvSpPr>
        <p:spPr>
          <a:xfrm>
            <a:off x="4235053" y="2174438"/>
            <a:ext cx="1553051" cy="331232"/>
          </a:xfrm>
          <a:prstGeom prst="rect">
            <a:avLst/>
          </a:prstGeom>
          <a:noFill/>
          <a:ln/>
        </p:spPr>
        <p:txBody>
          <a:bodyPr wrap="none" lIns="0" tIns="0" rIns="0" bIns="0" rtlCol="0" anchor="t"/>
          <a:lstStyle/>
          <a:p>
            <a:pPr marL="0" indent="0" algn="l">
              <a:lnSpc>
                <a:spcPts val="2600"/>
              </a:lnSpc>
              <a:buNone/>
            </a:pPr>
            <a:r>
              <a:rPr lang="en-US" sz="1600" b="1" dirty="0">
                <a:solidFill>
                  <a:srgbClr val="384653"/>
                </a:solidFill>
                <a:latin typeface="Montserrat" pitchFamily="34" charset="0"/>
                <a:ea typeface="Montserrat" pitchFamily="34" charset="-122"/>
                <a:cs typeface="Montserrat" pitchFamily="34" charset="-120"/>
              </a:rPr>
              <a:t>Accuracy</a:t>
            </a:r>
            <a:endParaRPr lang="en-US" sz="1600" dirty="0"/>
          </a:p>
        </p:txBody>
      </p:sp>
      <p:sp>
        <p:nvSpPr>
          <p:cNvPr id="10" name="Text 7"/>
          <p:cNvSpPr/>
          <p:nvPr/>
        </p:nvSpPr>
        <p:spPr>
          <a:xfrm>
            <a:off x="6209824" y="2174438"/>
            <a:ext cx="1553051" cy="331232"/>
          </a:xfrm>
          <a:prstGeom prst="rect">
            <a:avLst/>
          </a:prstGeom>
          <a:noFill/>
          <a:ln/>
        </p:spPr>
        <p:txBody>
          <a:bodyPr wrap="none" lIns="0" tIns="0" rIns="0" bIns="0" rtlCol="0" anchor="t"/>
          <a:lstStyle/>
          <a:p>
            <a:pPr marL="0" indent="0" algn="l">
              <a:lnSpc>
                <a:spcPts val="2600"/>
              </a:lnSpc>
              <a:buNone/>
            </a:pPr>
            <a:r>
              <a:rPr lang="en-US" sz="1600" b="1" dirty="0">
                <a:solidFill>
                  <a:srgbClr val="384653"/>
                </a:solidFill>
                <a:latin typeface="Montserrat" pitchFamily="34" charset="0"/>
                <a:ea typeface="Montserrat" pitchFamily="34" charset="-122"/>
                <a:cs typeface="Montserrat" pitchFamily="34" charset="-120"/>
              </a:rPr>
              <a:t>Precision</a:t>
            </a:r>
            <a:endParaRPr lang="en-US" sz="1600" dirty="0"/>
          </a:p>
        </p:txBody>
      </p:sp>
      <p:sp>
        <p:nvSpPr>
          <p:cNvPr id="11" name="Text 8"/>
          <p:cNvSpPr/>
          <p:nvPr/>
        </p:nvSpPr>
        <p:spPr>
          <a:xfrm>
            <a:off x="8184594" y="2174438"/>
            <a:ext cx="1553051" cy="331232"/>
          </a:xfrm>
          <a:prstGeom prst="rect">
            <a:avLst/>
          </a:prstGeom>
          <a:noFill/>
          <a:ln/>
        </p:spPr>
        <p:txBody>
          <a:bodyPr wrap="none" lIns="0" tIns="0" rIns="0" bIns="0" rtlCol="0" anchor="t"/>
          <a:lstStyle/>
          <a:p>
            <a:pPr marL="0" indent="0" algn="l">
              <a:lnSpc>
                <a:spcPts val="2600"/>
              </a:lnSpc>
              <a:buNone/>
            </a:pPr>
            <a:r>
              <a:rPr lang="en-US" sz="1600" b="1" dirty="0">
                <a:solidFill>
                  <a:srgbClr val="384653"/>
                </a:solidFill>
                <a:latin typeface="Montserrat" pitchFamily="34" charset="0"/>
                <a:ea typeface="Montserrat" pitchFamily="34" charset="-122"/>
                <a:cs typeface="Montserrat" pitchFamily="34" charset="-120"/>
              </a:rPr>
              <a:t>Recall</a:t>
            </a:r>
            <a:endParaRPr lang="en-US" sz="1600" dirty="0"/>
          </a:p>
        </p:txBody>
      </p:sp>
      <p:sp>
        <p:nvSpPr>
          <p:cNvPr id="12" name="Text 9"/>
          <p:cNvSpPr/>
          <p:nvPr/>
        </p:nvSpPr>
        <p:spPr>
          <a:xfrm>
            <a:off x="10159365" y="2174438"/>
            <a:ext cx="1553051" cy="331232"/>
          </a:xfrm>
          <a:prstGeom prst="rect">
            <a:avLst/>
          </a:prstGeom>
          <a:noFill/>
          <a:ln/>
        </p:spPr>
        <p:txBody>
          <a:bodyPr wrap="none" lIns="0" tIns="0" rIns="0" bIns="0" rtlCol="0" anchor="t"/>
          <a:lstStyle/>
          <a:p>
            <a:pPr marL="0" indent="0" algn="l">
              <a:lnSpc>
                <a:spcPts val="2600"/>
              </a:lnSpc>
              <a:buNone/>
            </a:pPr>
            <a:r>
              <a:rPr lang="en-US" sz="1600" b="1" dirty="0">
                <a:solidFill>
                  <a:srgbClr val="384653"/>
                </a:solidFill>
                <a:latin typeface="Montserrat" pitchFamily="34" charset="0"/>
                <a:ea typeface="Montserrat" pitchFamily="34" charset="-122"/>
                <a:cs typeface="Montserrat" pitchFamily="34" charset="-120"/>
              </a:rPr>
              <a:t>F1-score</a:t>
            </a:r>
            <a:endParaRPr lang="en-US" sz="1600" dirty="0"/>
          </a:p>
        </p:txBody>
      </p:sp>
      <p:sp>
        <p:nvSpPr>
          <p:cNvPr id="13" name="Text 10"/>
          <p:cNvSpPr/>
          <p:nvPr/>
        </p:nvSpPr>
        <p:spPr>
          <a:xfrm>
            <a:off x="12134136" y="2174438"/>
            <a:ext cx="1556861" cy="331232"/>
          </a:xfrm>
          <a:prstGeom prst="rect">
            <a:avLst/>
          </a:prstGeom>
          <a:noFill/>
          <a:ln/>
        </p:spPr>
        <p:txBody>
          <a:bodyPr wrap="none" lIns="0" tIns="0" rIns="0" bIns="0" rtlCol="0" anchor="t"/>
          <a:lstStyle/>
          <a:p>
            <a:pPr marL="0" indent="0" algn="l">
              <a:lnSpc>
                <a:spcPts val="2600"/>
              </a:lnSpc>
              <a:buNone/>
            </a:pPr>
            <a:r>
              <a:rPr lang="en-US" sz="1600" b="1" dirty="0">
                <a:solidFill>
                  <a:srgbClr val="384653"/>
                </a:solidFill>
                <a:latin typeface="Montserrat" pitchFamily="34" charset="0"/>
                <a:ea typeface="Montserrat" pitchFamily="34" charset="-122"/>
                <a:cs typeface="Montserrat" pitchFamily="34" charset="-120"/>
              </a:rPr>
              <a:t>ROC-AUC</a:t>
            </a:r>
            <a:endParaRPr lang="en-US" sz="1600" dirty="0"/>
          </a:p>
        </p:txBody>
      </p:sp>
      <p:sp>
        <p:nvSpPr>
          <p:cNvPr id="14" name="Shape 11"/>
          <p:cNvSpPr/>
          <p:nvPr/>
        </p:nvSpPr>
        <p:spPr>
          <a:xfrm>
            <a:off x="732353" y="2637473"/>
            <a:ext cx="13165693" cy="594836"/>
          </a:xfrm>
          <a:prstGeom prst="rect">
            <a:avLst/>
          </a:prstGeom>
          <a:solidFill>
            <a:srgbClr val="000000">
              <a:alpha val="4000"/>
            </a:srgbClr>
          </a:solidFill>
          <a:ln/>
        </p:spPr>
      </p:sp>
      <p:sp>
        <p:nvSpPr>
          <p:cNvPr id="15" name="Text 12"/>
          <p:cNvSpPr/>
          <p:nvPr/>
        </p:nvSpPr>
        <p:spPr>
          <a:xfrm>
            <a:off x="939879" y="2769275"/>
            <a:ext cx="2873454" cy="331232"/>
          </a:xfrm>
          <a:prstGeom prst="rect">
            <a:avLst/>
          </a:prstGeom>
          <a:noFill/>
          <a:ln/>
        </p:spPr>
        <p:txBody>
          <a:bodyPr wrap="none" lIns="0" tIns="0" rIns="0" bIns="0" rtlCol="0" anchor="t"/>
          <a:lstStyle/>
          <a:p>
            <a:pPr marL="0" indent="0" algn="l">
              <a:lnSpc>
                <a:spcPts val="2600"/>
              </a:lnSpc>
              <a:buNone/>
            </a:pPr>
            <a:r>
              <a:rPr lang="en-US" sz="1600" b="1" dirty="0">
                <a:solidFill>
                  <a:srgbClr val="384653"/>
                </a:solidFill>
                <a:latin typeface="Montserrat" pitchFamily="34" charset="0"/>
                <a:ea typeface="Montserrat" pitchFamily="34" charset="-122"/>
                <a:cs typeface="Montserrat" pitchFamily="34" charset="-120"/>
              </a:rPr>
              <a:t>Gradient Boosting</a:t>
            </a:r>
            <a:endParaRPr lang="en-US" sz="1600" dirty="0"/>
          </a:p>
        </p:txBody>
      </p:sp>
      <p:sp>
        <p:nvSpPr>
          <p:cNvPr id="16" name="Text 13"/>
          <p:cNvSpPr/>
          <p:nvPr/>
        </p:nvSpPr>
        <p:spPr>
          <a:xfrm>
            <a:off x="4235053" y="2769275"/>
            <a:ext cx="1553051" cy="331232"/>
          </a:xfrm>
          <a:prstGeom prst="rect">
            <a:avLst/>
          </a:prstGeom>
          <a:noFill/>
          <a:ln/>
        </p:spPr>
        <p:txBody>
          <a:bodyPr wrap="none" lIns="0" tIns="0" rIns="0" bIns="0" rtlCol="0" anchor="t"/>
          <a:lstStyle/>
          <a:p>
            <a:pPr marL="0" indent="0" algn="l">
              <a:lnSpc>
                <a:spcPts val="2600"/>
              </a:lnSpc>
              <a:buNone/>
            </a:pPr>
            <a:r>
              <a:rPr lang="en-US" sz="1600" b="1" dirty="0">
                <a:solidFill>
                  <a:srgbClr val="2589C9"/>
                </a:solidFill>
                <a:latin typeface="Montserrat" pitchFamily="34" charset="0"/>
                <a:ea typeface="Montserrat" pitchFamily="34" charset="-122"/>
                <a:cs typeface="Montserrat" pitchFamily="34" charset="-120"/>
              </a:rPr>
              <a:t>0.8185</a:t>
            </a:r>
            <a:endParaRPr lang="en-US" sz="1600" dirty="0"/>
          </a:p>
        </p:txBody>
      </p:sp>
      <p:sp>
        <p:nvSpPr>
          <p:cNvPr id="17" name="Text 14"/>
          <p:cNvSpPr/>
          <p:nvPr/>
        </p:nvSpPr>
        <p:spPr>
          <a:xfrm>
            <a:off x="6209824" y="2769275"/>
            <a:ext cx="1553051" cy="331232"/>
          </a:xfrm>
          <a:prstGeom prst="rect">
            <a:avLst/>
          </a:prstGeom>
          <a:noFill/>
          <a:ln/>
        </p:spPr>
        <p:txBody>
          <a:bodyPr wrap="none" lIns="0" tIns="0" rIns="0" bIns="0" rtlCol="0" anchor="t"/>
          <a:lstStyle/>
          <a:p>
            <a:pPr marL="0" indent="0" algn="l">
              <a:lnSpc>
                <a:spcPts val="2600"/>
              </a:lnSpc>
              <a:buNone/>
            </a:pPr>
            <a:r>
              <a:rPr lang="en-US" sz="1600" b="1" dirty="0">
                <a:solidFill>
                  <a:srgbClr val="2589C9"/>
                </a:solidFill>
                <a:latin typeface="Montserrat" pitchFamily="34" charset="0"/>
                <a:ea typeface="Montserrat" pitchFamily="34" charset="-122"/>
                <a:cs typeface="Montserrat" pitchFamily="34" charset="-120"/>
              </a:rPr>
              <a:t>0.8125</a:t>
            </a:r>
            <a:endParaRPr lang="en-US" sz="1600" dirty="0"/>
          </a:p>
        </p:txBody>
      </p:sp>
      <p:sp>
        <p:nvSpPr>
          <p:cNvPr id="18" name="Text 15"/>
          <p:cNvSpPr/>
          <p:nvPr/>
        </p:nvSpPr>
        <p:spPr>
          <a:xfrm>
            <a:off x="8184594" y="2769275"/>
            <a:ext cx="1553051" cy="331232"/>
          </a:xfrm>
          <a:prstGeom prst="rect">
            <a:avLst/>
          </a:prstGeom>
          <a:noFill/>
          <a:ln/>
        </p:spPr>
        <p:txBody>
          <a:bodyPr wrap="none" lIns="0" tIns="0" rIns="0" bIns="0" rtlCol="0" anchor="t"/>
          <a:lstStyle/>
          <a:p>
            <a:pPr marL="0" indent="0" algn="l">
              <a:lnSpc>
                <a:spcPts val="2600"/>
              </a:lnSpc>
              <a:buNone/>
            </a:pPr>
            <a:r>
              <a:rPr lang="en-US" sz="1600" b="1" dirty="0">
                <a:solidFill>
                  <a:srgbClr val="2589C9"/>
                </a:solidFill>
                <a:latin typeface="Montserrat" pitchFamily="34" charset="0"/>
                <a:ea typeface="Montserrat" pitchFamily="34" charset="-122"/>
                <a:cs typeface="Montserrat" pitchFamily="34" charset="-120"/>
              </a:rPr>
              <a:t>0.8185</a:t>
            </a:r>
            <a:endParaRPr lang="en-US" sz="1600" dirty="0"/>
          </a:p>
        </p:txBody>
      </p:sp>
      <p:sp>
        <p:nvSpPr>
          <p:cNvPr id="19" name="Text 16"/>
          <p:cNvSpPr/>
          <p:nvPr/>
        </p:nvSpPr>
        <p:spPr>
          <a:xfrm>
            <a:off x="10159365" y="2769275"/>
            <a:ext cx="1553051" cy="331232"/>
          </a:xfrm>
          <a:prstGeom prst="rect">
            <a:avLst/>
          </a:prstGeom>
          <a:noFill/>
          <a:ln/>
        </p:spPr>
        <p:txBody>
          <a:bodyPr wrap="none" lIns="0" tIns="0" rIns="0" bIns="0" rtlCol="0" anchor="t"/>
          <a:lstStyle/>
          <a:p>
            <a:pPr marL="0" indent="0" algn="l">
              <a:lnSpc>
                <a:spcPts val="2600"/>
              </a:lnSpc>
              <a:buNone/>
            </a:pPr>
            <a:r>
              <a:rPr lang="en-US" sz="1600" b="1" dirty="0">
                <a:solidFill>
                  <a:srgbClr val="2589C9"/>
                </a:solidFill>
                <a:latin typeface="Montserrat" pitchFamily="34" charset="0"/>
                <a:ea typeface="Montserrat" pitchFamily="34" charset="-122"/>
                <a:cs typeface="Montserrat" pitchFamily="34" charset="-120"/>
              </a:rPr>
              <a:t>0.8138</a:t>
            </a:r>
            <a:endParaRPr lang="en-US" sz="1600" dirty="0"/>
          </a:p>
        </p:txBody>
      </p:sp>
      <p:sp>
        <p:nvSpPr>
          <p:cNvPr id="20" name="Text 17"/>
          <p:cNvSpPr/>
          <p:nvPr/>
        </p:nvSpPr>
        <p:spPr>
          <a:xfrm>
            <a:off x="12134136" y="2769275"/>
            <a:ext cx="1556861" cy="331232"/>
          </a:xfrm>
          <a:prstGeom prst="rect">
            <a:avLst/>
          </a:prstGeom>
          <a:noFill/>
          <a:ln/>
        </p:spPr>
        <p:txBody>
          <a:bodyPr wrap="none" lIns="0" tIns="0" rIns="0" bIns="0" rtlCol="0" anchor="t"/>
          <a:lstStyle/>
          <a:p>
            <a:pPr marL="0" indent="0" algn="l">
              <a:lnSpc>
                <a:spcPts val="2600"/>
              </a:lnSpc>
              <a:buNone/>
            </a:pPr>
            <a:r>
              <a:rPr lang="en-US" sz="1600" b="1" dirty="0">
                <a:solidFill>
                  <a:srgbClr val="2589C9"/>
                </a:solidFill>
                <a:latin typeface="Montserrat" pitchFamily="34" charset="0"/>
                <a:ea typeface="Montserrat" pitchFamily="34" charset="-122"/>
                <a:cs typeface="Montserrat" pitchFamily="34" charset="-120"/>
              </a:rPr>
              <a:t>0.9095</a:t>
            </a:r>
            <a:endParaRPr lang="en-US" sz="1600" dirty="0"/>
          </a:p>
        </p:txBody>
      </p:sp>
      <p:sp>
        <p:nvSpPr>
          <p:cNvPr id="21" name="Shape 18"/>
          <p:cNvSpPr/>
          <p:nvPr/>
        </p:nvSpPr>
        <p:spPr>
          <a:xfrm>
            <a:off x="732353" y="3232309"/>
            <a:ext cx="13165693" cy="594836"/>
          </a:xfrm>
          <a:prstGeom prst="rect">
            <a:avLst/>
          </a:prstGeom>
          <a:solidFill>
            <a:srgbClr val="FFFFFF">
              <a:alpha val="4000"/>
            </a:srgbClr>
          </a:solidFill>
          <a:ln/>
        </p:spPr>
      </p:sp>
      <p:sp>
        <p:nvSpPr>
          <p:cNvPr id="22" name="Text 19"/>
          <p:cNvSpPr/>
          <p:nvPr/>
        </p:nvSpPr>
        <p:spPr>
          <a:xfrm>
            <a:off x="939879" y="3364111"/>
            <a:ext cx="2873454"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Logistic Regression</a:t>
            </a:r>
            <a:endParaRPr lang="en-US" sz="1600" dirty="0"/>
          </a:p>
        </p:txBody>
      </p:sp>
      <p:sp>
        <p:nvSpPr>
          <p:cNvPr id="23" name="Text 20"/>
          <p:cNvSpPr/>
          <p:nvPr/>
        </p:nvSpPr>
        <p:spPr>
          <a:xfrm>
            <a:off x="4235053" y="3364111"/>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0.8145</a:t>
            </a:r>
            <a:endParaRPr lang="en-US" sz="1600" dirty="0"/>
          </a:p>
        </p:txBody>
      </p:sp>
      <p:sp>
        <p:nvSpPr>
          <p:cNvPr id="24" name="Text 21"/>
          <p:cNvSpPr/>
          <p:nvPr/>
        </p:nvSpPr>
        <p:spPr>
          <a:xfrm>
            <a:off x="6209824" y="3364111"/>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0.8106</a:t>
            </a:r>
            <a:endParaRPr lang="en-US" sz="1600" dirty="0"/>
          </a:p>
        </p:txBody>
      </p:sp>
      <p:sp>
        <p:nvSpPr>
          <p:cNvPr id="25" name="Text 22"/>
          <p:cNvSpPr/>
          <p:nvPr/>
        </p:nvSpPr>
        <p:spPr>
          <a:xfrm>
            <a:off x="8184594" y="3364111"/>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0.8145</a:t>
            </a:r>
            <a:endParaRPr lang="en-US" sz="1600" dirty="0"/>
          </a:p>
        </p:txBody>
      </p:sp>
      <p:sp>
        <p:nvSpPr>
          <p:cNvPr id="26" name="Text 23"/>
          <p:cNvSpPr/>
          <p:nvPr/>
        </p:nvSpPr>
        <p:spPr>
          <a:xfrm>
            <a:off x="10159365" y="3364111"/>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0.8104</a:t>
            </a:r>
            <a:endParaRPr lang="en-US" sz="1600" dirty="0"/>
          </a:p>
        </p:txBody>
      </p:sp>
      <p:sp>
        <p:nvSpPr>
          <p:cNvPr id="27" name="Text 24"/>
          <p:cNvSpPr/>
          <p:nvPr/>
        </p:nvSpPr>
        <p:spPr>
          <a:xfrm>
            <a:off x="12134136" y="3364111"/>
            <a:ext cx="155686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0.9123</a:t>
            </a:r>
            <a:endParaRPr lang="en-US" sz="1600" dirty="0"/>
          </a:p>
        </p:txBody>
      </p:sp>
      <p:sp>
        <p:nvSpPr>
          <p:cNvPr id="28" name="Shape 25"/>
          <p:cNvSpPr/>
          <p:nvPr/>
        </p:nvSpPr>
        <p:spPr>
          <a:xfrm>
            <a:off x="732353" y="3827145"/>
            <a:ext cx="13165693" cy="594836"/>
          </a:xfrm>
          <a:prstGeom prst="rect">
            <a:avLst/>
          </a:prstGeom>
          <a:solidFill>
            <a:srgbClr val="000000">
              <a:alpha val="4000"/>
            </a:srgbClr>
          </a:solidFill>
          <a:ln/>
        </p:spPr>
      </p:sp>
      <p:sp>
        <p:nvSpPr>
          <p:cNvPr id="29" name="Text 26"/>
          <p:cNvSpPr/>
          <p:nvPr/>
        </p:nvSpPr>
        <p:spPr>
          <a:xfrm>
            <a:off x="939879" y="3958947"/>
            <a:ext cx="2873454"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SVM</a:t>
            </a:r>
            <a:endParaRPr lang="en-US" sz="1600" dirty="0"/>
          </a:p>
        </p:txBody>
      </p:sp>
      <p:sp>
        <p:nvSpPr>
          <p:cNvPr id="30" name="Text 27"/>
          <p:cNvSpPr/>
          <p:nvPr/>
        </p:nvSpPr>
        <p:spPr>
          <a:xfrm>
            <a:off x="4235053" y="3958947"/>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0.8095</a:t>
            </a:r>
            <a:endParaRPr lang="en-US" sz="1600" dirty="0"/>
          </a:p>
        </p:txBody>
      </p:sp>
      <p:sp>
        <p:nvSpPr>
          <p:cNvPr id="31" name="Text 28"/>
          <p:cNvSpPr/>
          <p:nvPr/>
        </p:nvSpPr>
        <p:spPr>
          <a:xfrm>
            <a:off x="6209824" y="3958947"/>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0.7913</a:t>
            </a:r>
            <a:endParaRPr lang="en-US" sz="1600" dirty="0"/>
          </a:p>
        </p:txBody>
      </p:sp>
      <p:sp>
        <p:nvSpPr>
          <p:cNvPr id="32" name="Text 29"/>
          <p:cNvSpPr/>
          <p:nvPr/>
        </p:nvSpPr>
        <p:spPr>
          <a:xfrm>
            <a:off x="8184594" y="3958947"/>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0.8095</a:t>
            </a:r>
            <a:endParaRPr lang="en-US" sz="1600" dirty="0"/>
          </a:p>
        </p:txBody>
      </p:sp>
      <p:sp>
        <p:nvSpPr>
          <p:cNvPr id="33" name="Text 30"/>
          <p:cNvSpPr/>
          <p:nvPr/>
        </p:nvSpPr>
        <p:spPr>
          <a:xfrm>
            <a:off x="10159365" y="3958947"/>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0.8002</a:t>
            </a:r>
            <a:endParaRPr lang="en-US" sz="1600" dirty="0"/>
          </a:p>
        </p:txBody>
      </p:sp>
      <p:sp>
        <p:nvSpPr>
          <p:cNvPr id="34" name="Text 31"/>
          <p:cNvSpPr/>
          <p:nvPr/>
        </p:nvSpPr>
        <p:spPr>
          <a:xfrm>
            <a:off x="12134136" y="3958947"/>
            <a:ext cx="155686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0.9059</a:t>
            </a:r>
            <a:endParaRPr lang="en-US" sz="1600" dirty="0"/>
          </a:p>
        </p:txBody>
      </p:sp>
      <p:sp>
        <p:nvSpPr>
          <p:cNvPr id="35" name="Shape 32"/>
          <p:cNvSpPr/>
          <p:nvPr/>
        </p:nvSpPr>
        <p:spPr>
          <a:xfrm>
            <a:off x="732353" y="4421981"/>
            <a:ext cx="13165693" cy="594836"/>
          </a:xfrm>
          <a:prstGeom prst="rect">
            <a:avLst/>
          </a:prstGeom>
          <a:solidFill>
            <a:srgbClr val="FFFFFF">
              <a:alpha val="4000"/>
            </a:srgbClr>
          </a:solidFill>
          <a:ln/>
        </p:spPr>
      </p:sp>
      <p:sp>
        <p:nvSpPr>
          <p:cNvPr id="36" name="Text 33"/>
          <p:cNvSpPr/>
          <p:nvPr/>
        </p:nvSpPr>
        <p:spPr>
          <a:xfrm>
            <a:off x="939879" y="4553783"/>
            <a:ext cx="2873454"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Random Forest</a:t>
            </a:r>
            <a:endParaRPr lang="en-US" sz="1600" dirty="0"/>
          </a:p>
        </p:txBody>
      </p:sp>
      <p:sp>
        <p:nvSpPr>
          <p:cNvPr id="37" name="Text 34"/>
          <p:cNvSpPr/>
          <p:nvPr/>
        </p:nvSpPr>
        <p:spPr>
          <a:xfrm>
            <a:off x="4235053" y="4553783"/>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0.8000</a:t>
            </a:r>
            <a:endParaRPr lang="en-US" sz="1600" dirty="0"/>
          </a:p>
        </p:txBody>
      </p:sp>
      <p:sp>
        <p:nvSpPr>
          <p:cNvPr id="38" name="Text 35"/>
          <p:cNvSpPr/>
          <p:nvPr/>
        </p:nvSpPr>
        <p:spPr>
          <a:xfrm>
            <a:off x="6209824" y="4553783"/>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0.7797</a:t>
            </a:r>
            <a:endParaRPr lang="en-US" sz="1600" dirty="0"/>
          </a:p>
        </p:txBody>
      </p:sp>
      <p:sp>
        <p:nvSpPr>
          <p:cNvPr id="39" name="Text 36"/>
          <p:cNvSpPr/>
          <p:nvPr/>
        </p:nvSpPr>
        <p:spPr>
          <a:xfrm>
            <a:off x="8184594" y="4553783"/>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0.8000</a:t>
            </a:r>
            <a:endParaRPr lang="en-US" sz="1600" dirty="0"/>
          </a:p>
        </p:txBody>
      </p:sp>
      <p:sp>
        <p:nvSpPr>
          <p:cNvPr id="40" name="Text 37"/>
          <p:cNvSpPr/>
          <p:nvPr/>
        </p:nvSpPr>
        <p:spPr>
          <a:xfrm>
            <a:off x="10159365" y="4553783"/>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0.7873</a:t>
            </a:r>
            <a:endParaRPr lang="en-US" sz="1600" dirty="0"/>
          </a:p>
        </p:txBody>
      </p:sp>
      <p:sp>
        <p:nvSpPr>
          <p:cNvPr id="41" name="Text 38"/>
          <p:cNvSpPr/>
          <p:nvPr/>
        </p:nvSpPr>
        <p:spPr>
          <a:xfrm>
            <a:off x="12134136" y="4553783"/>
            <a:ext cx="155686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0.8948</a:t>
            </a:r>
            <a:endParaRPr lang="en-US" sz="1600" dirty="0"/>
          </a:p>
        </p:txBody>
      </p:sp>
      <p:sp>
        <p:nvSpPr>
          <p:cNvPr id="42" name="Shape 39"/>
          <p:cNvSpPr/>
          <p:nvPr/>
        </p:nvSpPr>
        <p:spPr>
          <a:xfrm>
            <a:off x="732353" y="5016818"/>
            <a:ext cx="13165693" cy="594836"/>
          </a:xfrm>
          <a:prstGeom prst="rect">
            <a:avLst/>
          </a:prstGeom>
          <a:solidFill>
            <a:srgbClr val="000000">
              <a:alpha val="4000"/>
            </a:srgbClr>
          </a:solidFill>
          <a:ln/>
        </p:spPr>
      </p:sp>
      <p:sp>
        <p:nvSpPr>
          <p:cNvPr id="43" name="Text 40"/>
          <p:cNvSpPr/>
          <p:nvPr/>
        </p:nvSpPr>
        <p:spPr>
          <a:xfrm>
            <a:off x="939879" y="5148620"/>
            <a:ext cx="2873454"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Decision Tree</a:t>
            </a:r>
            <a:endParaRPr lang="en-US" sz="1600" dirty="0"/>
          </a:p>
        </p:txBody>
      </p:sp>
      <p:sp>
        <p:nvSpPr>
          <p:cNvPr id="44" name="Text 41"/>
          <p:cNvSpPr/>
          <p:nvPr/>
        </p:nvSpPr>
        <p:spPr>
          <a:xfrm>
            <a:off x="4235053" y="5148620"/>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0.7905</a:t>
            </a:r>
            <a:endParaRPr lang="en-US" sz="1600" dirty="0"/>
          </a:p>
        </p:txBody>
      </p:sp>
      <p:sp>
        <p:nvSpPr>
          <p:cNvPr id="45" name="Text 42"/>
          <p:cNvSpPr/>
          <p:nvPr/>
        </p:nvSpPr>
        <p:spPr>
          <a:xfrm>
            <a:off x="6209824" y="5148620"/>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0.7986</a:t>
            </a:r>
            <a:endParaRPr lang="en-US" sz="1600" dirty="0"/>
          </a:p>
        </p:txBody>
      </p:sp>
      <p:sp>
        <p:nvSpPr>
          <p:cNvPr id="46" name="Text 43"/>
          <p:cNvSpPr/>
          <p:nvPr/>
        </p:nvSpPr>
        <p:spPr>
          <a:xfrm>
            <a:off x="8184594" y="5148620"/>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0.7905</a:t>
            </a:r>
            <a:endParaRPr lang="en-US" sz="1600" dirty="0"/>
          </a:p>
        </p:txBody>
      </p:sp>
      <p:sp>
        <p:nvSpPr>
          <p:cNvPr id="47" name="Text 44"/>
          <p:cNvSpPr/>
          <p:nvPr/>
        </p:nvSpPr>
        <p:spPr>
          <a:xfrm>
            <a:off x="10159365" y="5148620"/>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0.7875</a:t>
            </a:r>
            <a:endParaRPr lang="en-US" sz="1600" dirty="0"/>
          </a:p>
        </p:txBody>
      </p:sp>
      <p:sp>
        <p:nvSpPr>
          <p:cNvPr id="48" name="Text 45"/>
          <p:cNvSpPr/>
          <p:nvPr/>
        </p:nvSpPr>
        <p:spPr>
          <a:xfrm>
            <a:off x="12134136" y="5148620"/>
            <a:ext cx="155686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0.8687</a:t>
            </a:r>
            <a:endParaRPr lang="en-US" sz="1600" dirty="0"/>
          </a:p>
        </p:txBody>
      </p:sp>
      <p:sp>
        <p:nvSpPr>
          <p:cNvPr id="49" name="Shape 46"/>
          <p:cNvSpPr/>
          <p:nvPr/>
        </p:nvSpPr>
        <p:spPr>
          <a:xfrm>
            <a:off x="732353" y="5611654"/>
            <a:ext cx="13165693" cy="594836"/>
          </a:xfrm>
          <a:prstGeom prst="rect">
            <a:avLst/>
          </a:prstGeom>
          <a:solidFill>
            <a:srgbClr val="FFFFFF">
              <a:alpha val="4000"/>
            </a:srgbClr>
          </a:solidFill>
          <a:ln/>
        </p:spPr>
      </p:sp>
      <p:sp>
        <p:nvSpPr>
          <p:cNvPr id="50" name="Text 47"/>
          <p:cNvSpPr/>
          <p:nvPr/>
        </p:nvSpPr>
        <p:spPr>
          <a:xfrm>
            <a:off x="939879" y="5743456"/>
            <a:ext cx="2873454"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KNN</a:t>
            </a:r>
            <a:endParaRPr lang="en-US" sz="1600" dirty="0"/>
          </a:p>
        </p:txBody>
      </p:sp>
      <p:sp>
        <p:nvSpPr>
          <p:cNvPr id="51" name="Text 48"/>
          <p:cNvSpPr/>
          <p:nvPr/>
        </p:nvSpPr>
        <p:spPr>
          <a:xfrm>
            <a:off x="4235053" y="5743456"/>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0.7250</a:t>
            </a:r>
            <a:endParaRPr lang="en-US" sz="1600" dirty="0"/>
          </a:p>
        </p:txBody>
      </p:sp>
      <p:sp>
        <p:nvSpPr>
          <p:cNvPr id="52" name="Text 49"/>
          <p:cNvSpPr/>
          <p:nvPr/>
        </p:nvSpPr>
        <p:spPr>
          <a:xfrm>
            <a:off x="6209824" y="5743456"/>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0.7121</a:t>
            </a:r>
            <a:endParaRPr lang="en-US" sz="1600" dirty="0"/>
          </a:p>
        </p:txBody>
      </p:sp>
      <p:sp>
        <p:nvSpPr>
          <p:cNvPr id="53" name="Text 50"/>
          <p:cNvSpPr/>
          <p:nvPr/>
        </p:nvSpPr>
        <p:spPr>
          <a:xfrm>
            <a:off x="8184594" y="5743456"/>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0.7250</a:t>
            </a:r>
            <a:endParaRPr lang="en-US" sz="1600" dirty="0"/>
          </a:p>
        </p:txBody>
      </p:sp>
      <p:sp>
        <p:nvSpPr>
          <p:cNvPr id="54" name="Text 51"/>
          <p:cNvSpPr/>
          <p:nvPr/>
        </p:nvSpPr>
        <p:spPr>
          <a:xfrm>
            <a:off x="10159365" y="5743456"/>
            <a:ext cx="155305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0.7170</a:t>
            </a:r>
            <a:endParaRPr lang="en-US" sz="1600" dirty="0"/>
          </a:p>
        </p:txBody>
      </p:sp>
      <p:sp>
        <p:nvSpPr>
          <p:cNvPr id="55" name="Text 52"/>
          <p:cNvSpPr/>
          <p:nvPr/>
        </p:nvSpPr>
        <p:spPr>
          <a:xfrm>
            <a:off x="12134136" y="5743456"/>
            <a:ext cx="1556861" cy="331232"/>
          </a:xfrm>
          <a:prstGeom prst="rect">
            <a:avLst/>
          </a:prstGeom>
          <a:noFill/>
          <a:ln/>
        </p:spPr>
        <p:txBody>
          <a:bodyPr wrap="none" lIns="0" tIns="0" rIns="0" bIns="0" rtlCol="0" anchor="t"/>
          <a:lstStyle/>
          <a:p>
            <a:pPr marL="0" indent="0" algn="l">
              <a:lnSpc>
                <a:spcPts val="2600"/>
              </a:lnSpc>
              <a:buNone/>
            </a:pPr>
            <a:r>
              <a:rPr lang="en-US" sz="1600" dirty="0">
                <a:solidFill>
                  <a:srgbClr val="384653"/>
                </a:solidFill>
                <a:latin typeface="Montserrat" pitchFamily="34" charset="0"/>
                <a:ea typeface="Montserrat" pitchFamily="34" charset="-122"/>
                <a:cs typeface="Montserrat" pitchFamily="34" charset="-120"/>
              </a:rPr>
              <a:t>0.7996</a:t>
            </a:r>
            <a:endParaRPr lang="en-US" sz="1600" dirty="0"/>
          </a:p>
        </p:txBody>
      </p:sp>
      <p:sp>
        <p:nvSpPr>
          <p:cNvPr id="56" name="Shape 53"/>
          <p:cNvSpPr/>
          <p:nvPr/>
        </p:nvSpPr>
        <p:spPr>
          <a:xfrm>
            <a:off x="724733" y="6446996"/>
            <a:ext cx="13180933" cy="1210985"/>
          </a:xfrm>
          <a:prstGeom prst="roundRect">
            <a:avLst>
              <a:gd name="adj" fmla="val 25649"/>
            </a:avLst>
          </a:prstGeom>
          <a:solidFill>
            <a:srgbClr val="BEDFF3"/>
          </a:solidFill>
          <a:ln/>
        </p:spPr>
      </p:sp>
      <p:pic>
        <p:nvPicPr>
          <p:cNvPr id="57" name="Image 1" descr="preencoded.png"/>
          <p:cNvPicPr>
            <a:picLocks noChangeAspect="1"/>
          </p:cNvPicPr>
          <p:nvPr/>
        </p:nvPicPr>
        <p:blipFill>
          <a:blip r:embed="rId5"/>
          <a:stretch>
            <a:fillRect/>
          </a:stretch>
        </p:blipFill>
        <p:spPr>
          <a:xfrm>
            <a:off x="931783" y="6760726"/>
            <a:ext cx="258723" cy="207050"/>
          </a:xfrm>
          <a:prstGeom prst="rect">
            <a:avLst/>
          </a:prstGeom>
        </p:spPr>
      </p:pic>
      <p:sp>
        <p:nvSpPr>
          <p:cNvPr id="58" name="Text 54"/>
          <p:cNvSpPr/>
          <p:nvPr/>
        </p:nvSpPr>
        <p:spPr>
          <a:xfrm>
            <a:off x="1397556" y="6705719"/>
            <a:ext cx="12301061" cy="662464"/>
          </a:xfrm>
          <a:prstGeom prst="rect">
            <a:avLst/>
          </a:prstGeom>
          <a:noFill/>
          <a:ln/>
        </p:spPr>
        <p:txBody>
          <a:bodyPr wrap="square" lIns="0" tIns="0" rIns="0" bIns="0" rtlCol="0" anchor="t"/>
          <a:lstStyle/>
          <a:p>
            <a:pPr marL="0" indent="0" algn="l">
              <a:lnSpc>
                <a:spcPts val="2600"/>
              </a:lnSpc>
              <a:buNone/>
            </a:pPr>
            <a:r>
              <a:rPr lang="en-US" sz="1600" b="1" dirty="0">
                <a:solidFill>
                  <a:srgbClr val="000000"/>
                </a:solidFill>
                <a:latin typeface="Montserrat" pitchFamily="34" charset="0"/>
                <a:ea typeface="Montserrat" pitchFamily="34" charset="-122"/>
                <a:cs typeface="Montserrat" pitchFamily="34" charset="-120"/>
              </a:rPr>
              <a:t>Winner: Gradient Boosting</a:t>
            </a:r>
            <a:r>
              <a:rPr lang="en-US" sz="1600" dirty="0">
                <a:solidFill>
                  <a:srgbClr val="000000"/>
                </a:solidFill>
                <a:latin typeface="Montserrat" pitchFamily="34" charset="0"/>
                <a:ea typeface="Montserrat" pitchFamily="34" charset="-122"/>
                <a:cs typeface="Montserrat" pitchFamily="34" charset="-120"/>
              </a:rPr>
              <a:t> achieved the best balance across all metrics with ROC-AUC above 0.90, indicating excellent class separation and predictive capability.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2634020" y="395407"/>
            <a:ext cx="891540" cy="279559"/>
          </a:xfrm>
          <a:prstGeom prst="roundRect">
            <a:avLst>
              <a:gd name="adj" fmla="val 60362"/>
            </a:avLst>
          </a:prstGeom>
          <a:noFill/>
          <a:ln w="7620">
            <a:solidFill>
              <a:srgbClr val="75BAE6"/>
            </a:solidFill>
            <a:prstDash val="solid"/>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25936" y="549235"/>
            <a:ext cx="112395" cy="112395"/>
          </a:xfrm>
          <a:prstGeom prst="rect">
            <a:avLst/>
          </a:prstGeom>
        </p:spPr>
      </p:pic>
      <p:sp>
        <p:nvSpPr>
          <p:cNvPr id="4" name="Text 1"/>
          <p:cNvSpPr/>
          <p:nvPr/>
        </p:nvSpPr>
        <p:spPr>
          <a:xfrm>
            <a:off x="2894528" y="445175"/>
            <a:ext cx="539115" cy="180023"/>
          </a:xfrm>
          <a:prstGeom prst="rect">
            <a:avLst/>
          </a:prstGeom>
          <a:noFill/>
          <a:ln/>
        </p:spPr>
        <p:txBody>
          <a:bodyPr wrap="none" lIns="0" tIns="0" rIns="0" bIns="0" rtlCol="0" anchor="t"/>
          <a:lstStyle/>
          <a:p>
            <a:pPr marL="0" indent="0" algn="l">
              <a:lnSpc>
                <a:spcPts val="1400"/>
              </a:lnSpc>
              <a:buNone/>
            </a:pPr>
            <a:r>
              <a:rPr lang="en-US" sz="850" dirty="0">
                <a:solidFill>
                  <a:srgbClr val="75BAE6"/>
                </a:solidFill>
                <a:latin typeface="Montserrat" pitchFamily="34" charset="0"/>
                <a:ea typeface="Montserrat" pitchFamily="34" charset="-122"/>
                <a:cs typeface="Montserrat" pitchFamily="34" charset="-120"/>
              </a:rPr>
              <a:t>INSIGHTS</a:t>
            </a:r>
            <a:endParaRPr lang="en-US" sz="850" dirty="0"/>
          </a:p>
        </p:txBody>
      </p:sp>
      <p:sp>
        <p:nvSpPr>
          <p:cNvPr id="5" name="Text 2"/>
          <p:cNvSpPr/>
          <p:nvPr/>
        </p:nvSpPr>
        <p:spPr>
          <a:xfrm>
            <a:off x="2634020" y="731163"/>
            <a:ext cx="6170414" cy="462558"/>
          </a:xfrm>
          <a:prstGeom prst="rect">
            <a:avLst/>
          </a:prstGeom>
          <a:noFill/>
          <a:ln/>
        </p:spPr>
        <p:txBody>
          <a:bodyPr wrap="none" lIns="0" tIns="0" rIns="0" bIns="0" rtlCol="0" anchor="t"/>
          <a:lstStyle/>
          <a:p>
            <a:pPr marL="0" indent="0" algn="l">
              <a:lnSpc>
                <a:spcPts val="3600"/>
              </a:lnSpc>
              <a:buNone/>
            </a:pPr>
            <a:r>
              <a:rPr lang="en-US" sz="2900" b="1" dirty="0">
                <a:solidFill>
                  <a:srgbClr val="2E3C4E"/>
                </a:solidFill>
                <a:latin typeface="Barlow Bold" pitchFamily="34" charset="0"/>
                <a:ea typeface="Barlow Bold" pitchFamily="34" charset="-122"/>
                <a:cs typeface="Barlow Bold" pitchFamily="34" charset="-120"/>
              </a:rPr>
              <a:t>Model Interpretation and Key Findings</a:t>
            </a:r>
            <a:endParaRPr lang="en-US" sz="2900" dirty="0"/>
          </a:p>
        </p:txBody>
      </p:sp>
      <p:sp>
        <p:nvSpPr>
          <p:cNvPr id="6" name="Text 3"/>
          <p:cNvSpPr/>
          <p:nvPr/>
        </p:nvSpPr>
        <p:spPr>
          <a:xfrm>
            <a:off x="2634020" y="1545193"/>
            <a:ext cx="2591157" cy="277535"/>
          </a:xfrm>
          <a:prstGeom prst="rect">
            <a:avLst/>
          </a:prstGeom>
          <a:noFill/>
          <a:ln/>
        </p:spPr>
        <p:txBody>
          <a:bodyPr wrap="none" lIns="0" tIns="0" rIns="0" bIns="0" rtlCol="0" anchor="t"/>
          <a:lstStyle/>
          <a:p>
            <a:pPr marL="0" indent="0" algn="l">
              <a:lnSpc>
                <a:spcPts val="2150"/>
              </a:lnSpc>
              <a:buNone/>
            </a:pPr>
            <a:r>
              <a:rPr lang="en-US" sz="1700" b="1" dirty="0">
                <a:solidFill>
                  <a:srgbClr val="2E3C4E"/>
                </a:solidFill>
                <a:latin typeface="Barlow Bold" pitchFamily="34" charset="0"/>
                <a:ea typeface="Barlow Bold" pitchFamily="34" charset="-122"/>
                <a:cs typeface="Barlow Bold" pitchFamily="34" charset="-120"/>
              </a:rPr>
              <a:t>Most Important Predictors</a:t>
            </a:r>
            <a:endParaRPr lang="en-US" sz="1700" dirty="0"/>
          </a:p>
        </p:txBody>
      </p:sp>
      <p:sp>
        <p:nvSpPr>
          <p:cNvPr id="7" name="Text 4"/>
          <p:cNvSpPr/>
          <p:nvPr/>
        </p:nvSpPr>
        <p:spPr>
          <a:xfrm>
            <a:off x="2634020" y="1980843"/>
            <a:ext cx="140613" cy="175736"/>
          </a:xfrm>
          <a:prstGeom prst="rect">
            <a:avLst/>
          </a:prstGeom>
          <a:noFill/>
          <a:ln/>
        </p:spPr>
        <p:txBody>
          <a:bodyPr wrap="none" lIns="0" tIns="0" rIns="0" bIns="0" rtlCol="0" anchor="t"/>
          <a:lstStyle/>
          <a:p>
            <a:pPr marL="0" indent="0" algn="l">
              <a:lnSpc>
                <a:spcPts val="1750"/>
              </a:lnSpc>
              <a:buNone/>
            </a:pPr>
            <a:r>
              <a:rPr lang="en-US" sz="1100" dirty="0">
                <a:solidFill>
                  <a:srgbClr val="384653"/>
                </a:solidFill>
                <a:latin typeface="Barlow Light" pitchFamily="34" charset="0"/>
                <a:ea typeface="Barlow Light" pitchFamily="34" charset="-122"/>
                <a:cs typeface="Barlow Light" pitchFamily="34" charset="-120"/>
              </a:rPr>
              <a:t>01</a:t>
            </a:r>
            <a:endParaRPr lang="en-US" sz="1100" dirty="0"/>
          </a:p>
        </p:txBody>
      </p:sp>
      <p:pic>
        <p:nvPicPr>
          <p:cNvPr id="8" name="Image 1" descr="preencoded.png"/>
          <p:cNvPicPr>
            <a:picLocks noChangeAspect="1"/>
          </p:cNvPicPr>
          <p:nvPr/>
        </p:nvPicPr>
        <p:blipFill>
          <a:blip r:embed="rId5"/>
          <a:stretch>
            <a:fillRect/>
          </a:stretch>
        </p:blipFill>
        <p:spPr>
          <a:xfrm>
            <a:off x="2634020" y="2204561"/>
            <a:ext cx="4994910" cy="15240"/>
          </a:xfrm>
          <a:prstGeom prst="rect">
            <a:avLst/>
          </a:prstGeom>
        </p:spPr>
      </p:pic>
      <p:sp>
        <p:nvSpPr>
          <p:cNvPr id="9" name="Text 5"/>
          <p:cNvSpPr/>
          <p:nvPr/>
        </p:nvSpPr>
        <p:spPr>
          <a:xfrm>
            <a:off x="2634020" y="2305288"/>
            <a:ext cx="1850231" cy="231219"/>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Years of Experience</a:t>
            </a:r>
            <a:endParaRPr lang="en-US" sz="1450" dirty="0"/>
          </a:p>
        </p:txBody>
      </p:sp>
      <p:sp>
        <p:nvSpPr>
          <p:cNvPr id="10" name="Text 6"/>
          <p:cNvSpPr/>
          <p:nvPr/>
        </p:nvSpPr>
        <p:spPr>
          <a:xfrm>
            <a:off x="2634020" y="2677120"/>
            <a:ext cx="4994910" cy="224909"/>
          </a:xfrm>
          <a:prstGeom prst="rect">
            <a:avLst/>
          </a:prstGeom>
          <a:noFill/>
          <a:ln/>
        </p:spPr>
        <p:txBody>
          <a:bodyPr wrap="non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Primary driver of salary classification</a:t>
            </a:r>
            <a:endParaRPr lang="en-US" sz="1100" dirty="0"/>
          </a:p>
        </p:txBody>
      </p:sp>
      <p:sp>
        <p:nvSpPr>
          <p:cNvPr id="11" name="Text 7"/>
          <p:cNvSpPr/>
          <p:nvPr/>
        </p:nvSpPr>
        <p:spPr>
          <a:xfrm>
            <a:off x="2634020" y="3148013"/>
            <a:ext cx="140613" cy="175736"/>
          </a:xfrm>
          <a:prstGeom prst="rect">
            <a:avLst/>
          </a:prstGeom>
          <a:noFill/>
          <a:ln/>
        </p:spPr>
        <p:txBody>
          <a:bodyPr wrap="none" lIns="0" tIns="0" rIns="0" bIns="0" rtlCol="0" anchor="t"/>
          <a:lstStyle/>
          <a:p>
            <a:pPr marL="0" indent="0" algn="l">
              <a:lnSpc>
                <a:spcPts val="1750"/>
              </a:lnSpc>
              <a:buNone/>
            </a:pPr>
            <a:r>
              <a:rPr lang="en-US" sz="1100" dirty="0">
                <a:solidFill>
                  <a:srgbClr val="384653"/>
                </a:solidFill>
                <a:latin typeface="Barlow Light" pitchFamily="34" charset="0"/>
                <a:ea typeface="Barlow Light" pitchFamily="34" charset="-122"/>
                <a:cs typeface="Barlow Light" pitchFamily="34" charset="-120"/>
              </a:rPr>
              <a:t>02</a:t>
            </a:r>
            <a:endParaRPr lang="en-US" sz="1100" dirty="0"/>
          </a:p>
        </p:txBody>
      </p:sp>
      <p:pic>
        <p:nvPicPr>
          <p:cNvPr id="12" name="Image 2" descr="preencoded.png"/>
          <p:cNvPicPr>
            <a:picLocks noChangeAspect="1"/>
          </p:cNvPicPr>
          <p:nvPr/>
        </p:nvPicPr>
        <p:blipFill>
          <a:blip r:embed="rId5"/>
          <a:stretch>
            <a:fillRect/>
          </a:stretch>
        </p:blipFill>
        <p:spPr>
          <a:xfrm>
            <a:off x="2634020" y="3357682"/>
            <a:ext cx="4994910" cy="15240"/>
          </a:xfrm>
          <a:prstGeom prst="rect">
            <a:avLst/>
          </a:prstGeom>
        </p:spPr>
      </p:pic>
      <p:sp>
        <p:nvSpPr>
          <p:cNvPr id="13" name="Text 8"/>
          <p:cNvSpPr/>
          <p:nvPr/>
        </p:nvSpPr>
        <p:spPr>
          <a:xfrm>
            <a:off x="2634020" y="3472458"/>
            <a:ext cx="1850231" cy="231219"/>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Education Level</a:t>
            </a:r>
            <a:endParaRPr lang="en-US" sz="1450" dirty="0"/>
          </a:p>
        </p:txBody>
      </p:sp>
      <p:sp>
        <p:nvSpPr>
          <p:cNvPr id="14" name="Text 9"/>
          <p:cNvSpPr/>
          <p:nvPr/>
        </p:nvSpPr>
        <p:spPr>
          <a:xfrm>
            <a:off x="2634020" y="3844290"/>
            <a:ext cx="4994910" cy="224909"/>
          </a:xfrm>
          <a:prstGeom prst="rect">
            <a:avLst/>
          </a:prstGeom>
          <a:noFill/>
          <a:ln/>
        </p:spPr>
        <p:txBody>
          <a:bodyPr wrap="non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Strong correlation with salary range</a:t>
            </a:r>
            <a:endParaRPr lang="en-US" sz="1100" dirty="0"/>
          </a:p>
        </p:txBody>
      </p:sp>
      <p:sp>
        <p:nvSpPr>
          <p:cNvPr id="15" name="Text 10"/>
          <p:cNvSpPr/>
          <p:nvPr/>
        </p:nvSpPr>
        <p:spPr>
          <a:xfrm>
            <a:off x="2634020" y="4315182"/>
            <a:ext cx="140613" cy="175736"/>
          </a:xfrm>
          <a:prstGeom prst="rect">
            <a:avLst/>
          </a:prstGeom>
          <a:noFill/>
          <a:ln/>
        </p:spPr>
        <p:txBody>
          <a:bodyPr wrap="none" lIns="0" tIns="0" rIns="0" bIns="0" rtlCol="0" anchor="t"/>
          <a:lstStyle/>
          <a:p>
            <a:pPr marL="0" indent="0" algn="l">
              <a:lnSpc>
                <a:spcPts val="1750"/>
              </a:lnSpc>
              <a:buNone/>
            </a:pPr>
            <a:r>
              <a:rPr lang="en-US" sz="1100" dirty="0">
                <a:solidFill>
                  <a:srgbClr val="384653"/>
                </a:solidFill>
                <a:latin typeface="Barlow Light" pitchFamily="34" charset="0"/>
                <a:ea typeface="Barlow Light" pitchFamily="34" charset="-122"/>
                <a:cs typeface="Barlow Light" pitchFamily="34" charset="-120"/>
              </a:rPr>
              <a:t>03</a:t>
            </a:r>
            <a:endParaRPr lang="en-US" sz="1100" dirty="0"/>
          </a:p>
        </p:txBody>
      </p:sp>
      <p:pic>
        <p:nvPicPr>
          <p:cNvPr id="16" name="Image 3" descr="preencoded.png"/>
          <p:cNvPicPr>
            <a:picLocks noChangeAspect="1"/>
          </p:cNvPicPr>
          <p:nvPr/>
        </p:nvPicPr>
        <p:blipFill>
          <a:blip r:embed="rId5"/>
          <a:stretch>
            <a:fillRect/>
          </a:stretch>
        </p:blipFill>
        <p:spPr>
          <a:xfrm>
            <a:off x="2634020" y="4510802"/>
            <a:ext cx="4994910" cy="15240"/>
          </a:xfrm>
          <a:prstGeom prst="rect">
            <a:avLst/>
          </a:prstGeom>
        </p:spPr>
      </p:pic>
      <p:sp>
        <p:nvSpPr>
          <p:cNvPr id="17" name="Text 11"/>
          <p:cNvSpPr/>
          <p:nvPr/>
        </p:nvSpPr>
        <p:spPr>
          <a:xfrm>
            <a:off x="2634020" y="4639628"/>
            <a:ext cx="1850231" cy="231219"/>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Job Role</a:t>
            </a:r>
            <a:endParaRPr lang="en-US" sz="1450" dirty="0"/>
          </a:p>
        </p:txBody>
      </p:sp>
      <p:sp>
        <p:nvSpPr>
          <p:cNvPr id="18" name="Text 12"/>
          <p:cNvSpPr/>
          <p:nvPr/>
        </p:nvSpPr>
        <p:spPr>
          <a:xfrm>
            <a:off x="2634020" y="5011460"/>
            <a:ext cx="4994910" cy="224909"/>
          </a:xfrm>
          <a:prstGeom prst="rect">
            <a:avLst/>
          </a:prstGeom>
          <a:noFill/>
          <a:ln/>
        </p:spPr>
        <p:txBody>
          <a:bodyPr wrap="non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Position type significantly impacts range</a:t>
            </a:r>
            <a:endParaRPr lang="en-US" sz="1100" dirty="0"/>
          </a:p>
        </p:txBody>
      </p:sp>
      <p:sp>
        <p:nvSpPr>
          <p:cNvPr id="19" name="Text 13"/>
          <p:cNvSpPr/>
          <p:nvPr/>
        </p:nvSpPr>
        <p:spPr>
          <a:xfrm>
            <a:off x="2634020" y="5482352"/>
            <a:ext cx="140613" cy="175736"/>
          </a:xfrm>
          <a:prstGeom prst="rect">
            <a:avLst/>
          </a:prstGeom>
          <a:noFill/>
          <a:ln/>
        </p:spPr>
        <p:txBody>
          <a:bodyPr wrap="none" lIns="0" tIns="0" rIns="0" bIns="0" rtlCol="0" anchor="t"/>
          <a:lstStyle/>
          <a:p>
            <a:pPr marL="0" indent="0" algn="l">
              <a:lnSpc>
                <a:spcPts val="1750"/>
              </a:lnSpc>
              <a:buNone/>
            </a:pPr>
            <a:r>
              <a:rPr lang="en-US" sz="1100" dirty="0">
                <a:solidFill>
                  <a:srgbClr val="384653"/>
                </a:solidFill>
                <a:latin typeface="Barlow Light" pitchFamily="34" charset="0"/>
                <a:ea typeface="Barlow Light" pitchFamily="34" charset="-122"/>
                <a:cs typeface="Barlow Light" pitchFamily="34" charset="-120"/>
              </a:rPr>
              <a:t>04</a:t>
            </a:r>
            <a:endParaRPr lang="en-US" sz="1100" dirty="0"/>
          </a:p>
        </p:txBody>
      </p:sp>
      <p:pic>
        <p:nvPicPr>
          <p:cNvPr id="20" name="Image 4" descr="preencoded.png"/>
          <p:cNvPicPr>
            <a:picLocks noChangeAspect="1"/>
          </p:cNvPicPr>
          <p:nvPr/>
        </p:nvPicPr>
        <p:blipFill>
          <a:blip r:embed="rId5"/>
          <a:stretch>
            <a:fillRect/>
          </a:stretch>
        </p:blipFill>
        <p:spPr>
          <a:xfrm>
            <a:off x="2634020" y="5663922"/>
            <a:ext cx="4994910" cy="15240"/>
          </a:xfrm>
          <a:prstGeom prst="rect">
            <a:avLst/>
          </a:prstGeom>
        </p:spPr>
      </p:pic>
      <p:sp>
        <p:nvSpPr>
          <p:cNvPr id="21" name="Text 14"/>
          <p:cNvSpPr/>
          <p:nvPr/>
        </p:nvSpPr>
        <p:spPr>
          <a:xfrm>
            <a:off x="2634020" y="5806797"/>
            <a:ext cx="1850231" cy="231219"/>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Skill Score</a:t>
            </a:r>
            <a:endParaRPr lang="en-US" sz="1450" dirty="0"/>
          </a:p>
        </p:txBody>
      </p:sp>
      <p:sp>
        <p:nvSpPr>
          <p:cNvPr id="22" name="Text 15"/>
          <p:cNvSpPr/>
          <p:nvPr/>
        </p:nvSpPr>
        <p:spPr>
          <a:xfrm>
            <a:off x="2634020" y="6178629"/>
            <a:ext cx="4994910" cy="224909"/>
          </a:xfrm>
          <a:prstGeom prst="rect">
            <a:avLst/>
          </a:prstGeom>
          <a:noFill/>
          <a:ln/>
        </p:spPr>
        <p:txBody>
          <a:bodyPr wrap="non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Technical capabilities matter</a:t>
            </a:r>
            <a:endParaRPr lang="en-US" sz="1100" dirty="0"/>
          </a:p>
        </p:txBody>
      </p:sp>
      <p:sp>
        <p:nvSpPr>
          <p:cNvPr id="23" name="Text 16"/>
          <p:cNvSpPr/>
          <p:nvPr/>
        </p:nvSpPr>
        <p:spPr>
          <a:xfrm>
            <a:off x="2634020" y="6649522"/>
            <a:ext cx="140613" cy="175736"/>
          </a:xfrm>
          <a:prstGeom prst="rect">
            <a:avLst/>
          </a:prstGeom>
          <a:noFill/>
          <a:ln/>
        </p:spPr>
        <p:txBody>
          <a:bodyPr wrap="none" lIns="0" tIns="0" rIns="0" bIns="0" rtlCol="0" anchor="t"/>
          <a:lstStyle/>
          <a:p>
            <a:pPr marL="0" indent="0" algn="l">
              <a:lnSpc>
                <a:spcPts val="1750"/>
              </a:lnSpc>
              <a:buNone/>
            </a:pPr>
            <a:r>
              <a:rPr lang="en-US" sz="1100" dirty="0">
                <a:solidFill>
                  <a:srgbClr val="384653"/>
                </a:solidFill>
                <a:latin typeface="Barlow Light" pitchFamily="34" charset="0"/>
                <a:ea typeface="Barlow Light" pitchFamily="34" charset="-122"/>
                <a:cs typeface="Barlow Light" pitchFamily="34" charset="-120"/>
              </a:rPr>
              <a:t>05</a:t>
            </a:r>
            <a:endParaRPr lang="en-US" sz="1100" dirty="0"/>
          </a:p>
        </p:txBody>
      </p:sp>
      <p:pic>
        <p:nvPicPr>
          <p:cNvPr id="24" name="Image 5" descr="preencoded.png"/>
          <p:cNvPicPr>
            <a:picLocks noChangeAspect="1"/>
          </p:cNvPicPr>
          <p:nvPr/>
        </p:nvPicPr>
        <p:blipFill>
          <a:blip r:embed="rId5"/>
          <a:stretch>
            <a:fillRect/>
          </a:stretch>
        </p:blipFill>
        <p:spPr>
          <a:xfrm>
            <a:off x="2634020" y="6817043"/>
            <a:ext cx="4994910" cy="15240"/>
          </a:xfrm>
          <a:prstGeom prst="rect">
            <a:avLst/>
          </a:prstGeom>
        </p:spPr>
      </p:pic>
      <p:sp>
        <p:nvSpPr>
          <p:cNvPr id="25" name="Text 17"/>
          <p:cNvSpPr/>
          <p:nvPr/>
        </p:nvSpPr>
        <p:spPr>
          <a:xfrm>
            <a:off x="2634020" y="6973967"/>
            <a:ext cx="1850231" cy="231219"/>
          </a:xfrm>
          <a:prstGeom prst="rect">
            <a:avLst/>
          </a:prstGeom>
          <a:noFill/>
          <a:ln/>
        </p:spPr>
        <p:txBody>
          <a:bodyPr wrap="none" lIns="0" tIns="0" rIns="0" bIns="0" rtlCol="0" anchor="t"/>
          <a:lstStyle/>
          <a:p>
            <a:pPr marL="0" indent="0" algn="l">
              <a:lnSpc>
                <a:spcPts val="1800"/>
              </a:lnSpc>
              <a:buNone/>
            </a:pPr>
            <a:r>
              <a:rPr lang="en-US" sz="1450" b="1" dirty="0">
                <a:solidFill>
                  <a:srgbClr val="384653"/>
                </a:solidFill>
                <a:latin typeface="Barlow Bold" pitchFamily="34" charset="0"/>
                <a:ea typeface="Barlow Bold" pitchFamily="34" charset="-122"/>
                <a:cs typeface="Barlow Bold" pitchFamily="34" charset="-120"/>
              </a:rPr>
              <a:t>Performance Score</a:t>
            </a:r>
            <a:endParaRPr lang="en-US" sz="1450" dirty="0"/>
          </a:p>
        </p:txBody>
      </p:sp>
      <p:sp>
        <p:nvSpPr>
          <p:cNvPr id="26" name="Text 18"/>
          <p:cNvSpPr/>
          <p:nvPr/>
        </p:nvSpPr>
        <p:spPr>
          <a:xfrm>
            <a:off x="2634020" y="7345799"/>
            <a:ext cx="4994910" cy="224909"/>
          </a:xfrm>
          <a:prstGeom prst="rect">
            <a:avLst/>
          </a:prstGeom>
          <a:noFill/>
          <a:ln/>
        </p:spPr>
        <p:txBody>
          <a:bodyPr wrap="non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Individual contribution factor</a:t>
            </a:r>
            <a:endParaRPr lang="en-US" sz="1100" dirty="0"/>
          </a:p>
        </p:txBody>
      </p:sp>
      <p:pic>
        <p:nvPicPr>
          <p:cNvPr id="27" name="Image 6" descr="preencoded.png"/>
          <p:cNvPicPr>
            <a:picLocks noChangeAspect="1"/>
          </p:cNvPicPr>
          <p:nvPr/>
        </p:nvPicPr>
        <p:blipFill>
          <a:blip r:embed="rId6"/>
          <a:stretch>
            <a:fillRect/>
          </a:stretch>
        </p:blipFill>
        <p:spPr>
          <a:xfrm>
            <a:off x="7979450" y="1632942"/>
            <a:ext cx="4024432" cy="2012156"/>
          </a:xfrm>
          <a:prstGeom prst="rect">
            <a:avLst/>
          </a:prstGeom>
        </p:spPr>
      </p:pic>
      <p:sp>
        <p:nvSpPr>
          <p:cNvPr id="28" name="Text 19"/>
          <p:cNvSpPr/>
          <p:nvPr/>
        </p:nvSpPr>
        <p:spPr>
          <a:xfrm>
            <a:off x="7979450" y="3732967"/>
            <a:ext cx="2220278" cy="277535"/>
          </a:xfrm>
          <a:prstGeom prst="rect">
            <a:avLst/>
          </a:prstGeom>
          <a:noFill/>
          <a:ln/>
        </p:spPr>
        <p:txBody>
          <a:bodyPr wrap="none" lIns="0" tIns="0" rIns="0" bIns="0" rtlCol="0" anchor="t"/>
          <a:lstStyle/>
          <a:p>
            <a:pPr marL="0" indent="0" algn="l">
              <a:lnSpc>
                <a:spcPts val="2150"/>
              </a:lnSpc>
              <a:buNone/>
            </a:pPr>
            <a:r>
              <a:rPr lang="en-US" sz="1700" b="1" dirty="0">
                <a:solidFill>
                  <a:srgbClr val="2E3C4E"/>
                </a:solidFill>
                <a:latin typeface="Barlow Bold" pitchFamily="34" charset="0"/>
                <a:ea typeface="Barlow Bold" pitchFamily="34" charset="-122"/>
                <a:cs typeface="Barlow Bold" pitchFamily="34" charset="-120"/>
              </a:rPr>
              <a:t>Key Interpretation</a:t>
            </a:r>
            <a:endParaRPr lang="en-US" sz="1700" dirty="0"/>
          </a:p>
        </p:txBody>
      </p:sp>
      <p:sp>
        <p:nvSpPr>
          <p:cNvPr id="29" name="Text 20"/>
          <p:cNvSpPr/>
          <p:nvPr/>
        </p:nvSpPr>
        <p:spPr>
          <a:xfrm>
            <a:off x="7979450" y="4151114"/>
            <a:ext cx="4024432" cy="674727"/>
          </a:xfrm>
          <a:prstGeom prst="rect">
            <a:avLst/>
          </a:prstGeom>
          <a:noFill/>
          <a:ln/>
        </p:spPr>
        <p:txBody>
          <a:bodyPr wrap="square" lIns="0" tIns="0" rIns="0" bIns="0" rtlCol="0" anchor="t"/>
          <a:lstStyle/>
          <a:p>
            <a:pPr marL="0" indent="0" algn="l">
              <a:lnSpc>
                <a:spcPts val="1750"/>
              </a:lnSpc>
              <a:buNone/>
            </a:pPr>
            <a:r>
              <a:rPr lang="en-US" sz="1100" dirty="0">
                <a:solidFill>
                  <a:srgbClr val="384653"/>
                </a:solidFill>
                <a:latin typeface="Montserrat" pitchFamily="34" charset="0"/>
                <a:ea typeface="Montserrat" pitchFamily="34" charset="-122"/>
                <a:cs typeface="Montserrat" pitchFamily="34" charset="-120"/>
              </a:rPr>
              <a:t>Employees with higher experience, stronger skills, and advanced education are significantly more likely to fall into higher salary ranges.</a:t>
            </a:r>
            <a:endParaRPr lang="en-US" sz="1100" dirty="0"/>
          </a:p>
        </p:txBody>
      </p:sp>
      <p:sp>
        <p:nvSpPr>
          <p:cNvPr id="30" name="Text 21"/>
          <p:cNvSpPr/>
          <p:nvPr/>
        </p:nvSpPr>
        <p:spPr>
          <a:xfrm>
            <a:off x="7979450" y="4966454"/>
            <a:ext cx="2220278" cy="277535"/>
          </a:xfrm>
          <a:prstGeom prst="rect">
            <a:avLst/>
          </a:prstGeom>
          <a:noFill/>
          <a:ln/>
        </p:spPr>
        <p:txBody>
          <a:bodyPr wrap="none" lIns="0" tIns="0" rIns="0" bIns="0" rtlCol="0" anchor="t"/>
          <a:lstStyle/>
          <a:p>
            <a:pPr marL="0" indent="0" algn="l">
              <a:lnSpc>
                <a:spcPts val="2150"/>
              </a:lnSpc>
              <a:buNone/>
            </a:pPr>
            <a:r>
              <a:rPr lang="en-US" sz="1700" b="1" dirty="0">
                <a:solidFill>
                  <a:srgbClr val="2E3C4E"/>
                </a:solidFill>
                <a:latin typeface="Barlow Bold" pitchFamily="34" charset="0"/>
                <a:ea typeface="Barlow Bold" pitchFamily="34" charset="-122"/>
                <a:cs typeface="Barlow Bold" pitchFamily="34" charset="-120"/>
              </a:rPr>
              <a:t>Model Limitations</a:t>
            </a:r>
            <a:endParaRPr lang="en-US" sz="1700" dirty="0"/>
          </a:p>
        </p:txBody>
      </p:sp>
      <p:sp>
        <p:nvSpPr>
          <p:cNvPr id="31" name="Text 22"/>
          <p:cNvSpPr/>
          <p:nvPr/>
        </p:nvSpPr>
        <p:spPr>
          <a:xfrm>
            <a:off x="7979450" y="5384602"/>
            <a:ext cx="4024432" cy="22490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Class imbalance affects precision for some ranges</a:t>
            </a:r>
            <a:endParaRPr lang="en-US" sz="1100" dirty="0"/>
          </a:p>
        </p:txBody>
      </p:sp>
      <p:sp>
        <p:nvSpPr>
          <p:cNvPr id="32" name="Text 23"/>
          <p:cNvSpPr/>
          <p:nvPr/>
        </p:nvSpPr>
        <p:spPr>
          <a:xfrm>
            <a:off x="7979450" y="5658683"/>
            <a:ext cx="4024432" cy="22490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Warning: some labels had no predicted samples</a:t>
            </a:r>
            <a:endParaRPr lang="en-US" sz="1100" dirty="0"/>
          </a:p>
        </p:txBody>
      </p:sp>
      <p:sp>
        <p:nvSpPr>
          <p:cNvPr id="33" name="Text 24"/>
          <p:cNvSpPr/>
          <p:nvPr/>
        </p:nvSpPr>
        <p:spPr>
          <a:xfrm>
            <a:off x="7979450" y="5932765"/>
            <a:ext cx="4024432" cy="22490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Performance depends on historical patterns</a:t>
            </a:r>
            <a:endParaRPr lang="en-US" sz="1100" dirty="0"/>
          </a:p>
        </p:txBody>
      </p:sp>
      <p:sp>
        <p:nvSpPr>
          <p:cNvPr id="34" name="Text 25"/>
          <p:cNvSpPr/>
          <p:nvPr/>
        </p:nvSpPr>
        <p:spPr>
          <a:xfrm>
            <a:off x="7979450" y="6206847"/>
            <a:ext cx="4024432" cy="22490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384653"/>
                </a:solidFill>
                <a:latin typeface="Montserrat" pitchFamily="34" charset="0"/>
                <a:ea typeface="Montserrat" pitchFamily="34" charset="-122"/>
                <a:cs typeface="Montserrat" pitchFamily="34" charset="-120"/>
              </a:rPr>
              <a:t>Requires periodic retraining with new data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8309" y="1732478"/>
            <a:ext cx="8696444"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Conclusion and Recommendations</a:t>
            </a:r>
            <a:endParaRPr lang="en-US" sz="4450" dirty="0"/>
          </a:p>
        </p:txBody>
      </p:sp>
      <p:sp>
        <p:nvSpPr>
          <p:cNvPr id="3" name="Text 1"/>
          <p:cNvSpPr/>
          <p:nvPr/>
        </p:nvSpPr>
        <p:spPr>
          <a:xfrm>
            <a:off x="758309" y="2878455"/>
            <a:ext cx="13113782" cy="1733550"/>
          </a:xfrm>
          <a:prstGeom prst="rect">
            <a:avLst/>
          </a:prstGeom>
          <a:noFill/>
          <a:ln/>
        </p:spPr>
        <p:txBody>
          <a:bodyPr wrap="square" lIns="0" tIns="0" rIns="0" bIns="0" rtlCol="0" anchor="t"/>
          <a:lstStyle/>
          <a:p>
            <a:pPr algn="l">
              <a:lnSpc>
                <a:spcPts val="2700"/>
              </a:lnSpc>
              <a:buSzPct val="100000"/>
            </a:pPr>
            <a:r>
              <a:rPr lang="en-US" sz="1700" b="1" dirty="0">
                <a:solidFill>
                  <a:srgbClr val="384653"/>
                </a:solidFill>
                <a:latin typeface="Montserrat" pitchFamily="34" charset="0"/>
                <a:ea typeface="Montserrat" pitchFamily="34" charset="-122"/>
                <a:cs typeface="Montserrat" pitchFamily="34" charset="-120"/>
              </a:rPr>
              <a:t>                        </a:t>
            </a:r>
            <a:r>
              <a:rPr lang="en-US" sz="2800" b="1" u="sng" dirty="0">
                <a:solidFill>
                  <a:srgbClr val="384653"/>
                </a:solidFill>
                <a:latin typeface="Montserrat" pitchFamily="34" charset="0"/>
                <a:ea typeface="Montserrat" pitchFamily="34" charset="-122"/>
                <a:cs typeface="Montserrat" pitchFamily="34" charset="-120"/>
              </a:rPr>
              <a:t>Conclusion</a:t>
            </a:r>
            <a:endParaRPr lang="en-US" sz="1700" b="1" u="sng" dirty="0">
              <a:solidFill>
                <a:srgbClr val="384653"/>
              </a:solidFill>
              <a:latin typeface="Montserrat" pitchFamily="34" charset="0"/>
              <a:ea typeface="Montserrat" pitchFamily="34" charset="-122"/>
              <a:cs typeface="Montserrat" pitchFamily="34" charset="-120"/>
            </a:endParaRPr>
          </a:p>
          <a:p>
            <a:pPr algn="l">
              <a:lnSpc>
                <a:spcPts val="2700"/>
              </a:lnSpc>
              <a:buSzPct val="100000"/>
            </a:pPr>
            <a:r>
              <a:rPr lang="en-US" sz="1700" dirty="0">
                <a:solidFill>
                  <a:srgbClr val="384653"/>
                </a:solidFill>
                <a:latin typeface="Montserrat" pitchFamily="34" charset="0"/>
                <a:ea typeface="Montserrat" pitchFamily="34" charset="-122"/>
                <a:cs typeface="Montserrat" pitchFamily="34" charset="-120"/>
              </a:rPr>
              <a:t>The study shows that machine learning can effectively classify employees into salary ranges using historical HR data. After data cleaning and analysis, Gradient Boosting achieved the best performance among the tested models. Key factors such as experience, education, skills, and performance strongly influence salary ranges, demonstrating the value of a data-driven approach for fair and consistent compensation decisions.</a:t>
            </a:r>
            <a:endParaRPr lang="en-US" sz="1700" dirty="0"/>
          </a:p>
        </p:txBody>
      </p:sp>
      <p:sp>
        <p:nvSpPr>
          <p:cNvPr id="4" name="Text 2"/>
          <p:cNvSpPr/>
          <p:nvPr/>
        </p:nvSpPr>
        <p:spPr>
          <a:xfrm>
            <a:off x="758309" y="4687729"/>
            <a:ext cx="13113782" cy="346710"/>
          </a:xfrm>
          <a:prstGeom prst="rect">
            <a:avLst/>
          </a:prstGeom>
          <a:noFill/>
          <a:ln/>
        </p:spPr>
        <p:txBody>
          <a:bodyPr wrap="none" lIns="0" tIns="0" rIns="0" bIns="0" rtlCol="0" anchor="t"/>
          <a:lstStyle/>
          <a:p>
            <a:pPr algn="l">
              <a:lnSpc>
                <a:spcPts val="2700"/>
              </a:lnSpc>
              <a:buSzPct val="100000"/>
            </a:pPr>
            <a:r>
              <a:rPr lang="en-US" sz="1700" b="1" dirty="0">
                <a:solidFill>
                  <a:srgbClr val="384653"/>
                </a:solidFill>
                <a:latin typeface="Montserrat" pitchFamily="34" charset="0"/>
                <a:ea typeface="Montserrat" pitchFamily="34" charset="-122"/>
                <a:cs typeface="Montserrat" pitchFamily="34" charset="-120"/>
              </a:rPr>
              <a:t>                      </a:t>
            </a:r>
            <a:r>
              <a:rPr lang="en-US" sz="2400" b="1" u="sng" dirty="0">
                <a:solidFill>
                  <a:srgbClr val="384653"/>
                </a:solidFill>
                <a:latin typeface="Montserrat" pitchFamily="34" charset="0"/>
                <a:ea typeface="Montserrat" pitchFamily="34" charset="-122"/>
                <a:cs typeface="Montserrat" pitchFamily="34" charset="-120"/>
              </a:rPr>
              <a:t>Recommendations</a:t>
            </a:r>
            <a:endParaRPr lang="en-US" sz="1700" b="1" u="sng" dirty="0"/>
          </a:p>
        </p:txBody>
      </p:sp>
      <p:sp>
        <p:nvSpPr>
          <p:cNvPr id="5" name="Text 3"/>
          <p:cNvSpPr/>
          <p:nvPr/>
        </p:nvSpPr>
        <p:spPr>
          <a:xfrm>
            <a:off x="400958" y="5122928"/>
            <a:ext cx="13113782" cy="1386840"/>
          </a:xfrm>
          <a:prstGeom prst="rect">
            <a:avLst/>
          </a:prstGeom>
          <a:noFill/>
          <a:ln/>
        </p:spPr>
        <p:txBody>
          <a:bodyPr wrap="square" lIns="0" tIns="0" rIns="0" bIns="0" rtlCol="0" anchor="t"/>
          <a:lstStyle/>
          <a:p>
            <a:pPr marL="342900" lvl="1" algn="l">
              <a:lnSpc>
                <a:spcPts val="2700"/>
              </a:lnSpc>
              <a:buSzPct val="100000"/>
            </a:pPr>
            <a:r>
              <a:rPr lang="en-US" sz="1700" dirty="0">
                <a:solidFill>
                  <a:srgbClr val="384653"/>
                </a:solidFill>
                <a:latin typeface="Montserrat" pitchFamily="34" charset="0"/>
                <a:ea typeface="Montserrat" pitchFamily="34" charset="-122"/>
                <a:cs typeface="Montserrat" pitchFamily="34" charset="-120"/>
              </a:rPr>
              <a:t>Organizations should use machine learning models as decision-support tools for salary range allocation while continuing human oversight. Regular data updates, improved data quality, and handling of class imbalance are recommended to maintain model reliability. Future work should include market salary benchmarks and advanced models to further enhance decision accuracy.</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58309" y="1947743"/>
            <a:ext cx="7675602" cy="1425416"/>
          </a:xfrm>
          <a:prstGeom prst="rect">
            <a:avLst/>
          </a:prstGeom>
          <a:noFill/>
          <a:ln/>
        </p:spPr>
        <p:txBody>
          <a:bodyPr wrap="squar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                                  Closing remark</a:t>
            </a:r>
            <a:endParaRPr lang="en-US" sz="4450" dirty="0"/>
          </a:p>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Group members:</a:t>
            </a:r>
            <a:endParaRPr lang="en-US" sz="4450" dirty="0"/>
          </a:p>
        </p:txBody>
      </p:sp>
      <p:sp>
        <p:nvSpPr>
          <p:cNvPr id="3" name="Text 1"/>
          <p:cNvSpPr/>
          <p:nvPr/>
        </p:nvSpPr>
        <p:spPr>
          <a:xfrm>
            <a:off x="758309" y="3806428"/>
            <a:ext cx="13113782" cy="346710"/>
          </a:xfrm>
          <a:prstGeom prst="rect">
            <a:avLst/>
          </a:prstGeom>
          <a:noFill/>
          <a:ln/>
        </p:spPr>
        <p:txBody>
          <a:bodyPr wrap="none" lIns="0" tIns="0" rIns="0" bIns="0" rtlCol="0" anchor="t"/>
          <a:lstStyle/>
          <a:p>
            <a:pPr marL="342900" indent="-342900">
              <a:lnSpc>
                <a:spcPts val="2700"/>
              </a:lnSpc>
              <a:buSzPct val="100000"/>
              <a:buFont typeface="+mj-lt"/>
              <a:buAutoNum type="arabicPeriod"/>
            </a:pPr>
            <a:r>
              <a:rPr lang="en-US" sz="1700" dirty="0">
                <a:solidFill>
                  <a:srgbClr val="384653"/>
                </a:solidFill>
                <a:latin typeface="Montserrat" pitchFamily="34" charset="0"/>
                <a:ea typeface="Montserrat" pitchFamily="34" charset="-122"/>
                <a:cs typeface="Montserrat" pitchFamily="34" charset="-120"/>
              </a:rPr>
              <a:t>Rutayisire Jean Pierre (GL)</a:t>
            </a:r>
            <a:endParaRPr lang="en-US" sz="1700" dirty="0"/>
          </a:p>
        </p:txBody>
      </p:sp>
      <p:sp>
        <p:nvSpPr>
          <p:cNvPr id="4" name="Text 2"/>
          <p:cNvSpPr/>
          <p:nvPr/>
        </p:nvSpPr>
        <p:spPr>
          <a:xfrm>
            <a:off x="758309" y="4228862"/>
            <a:ext cx="13113782" cy="346710"/>
          </a:xfrm>
          <a:prstGeom prst="rect">
            <a:avLst/>
          </a:prstGeom>
          <a:noFill/>
          <a:ln/>
        </p:spPr>
        <p:txBody>
          <a:bodyPr wrap="none" lIns="0" tIns="0" rIns="0" bIns="0" rtlCol="0" anchor="t"/>
          <a:lstStyle/>
          <a:p>
            <a:pPr marL="342900" indent="-342900" algn="l">
              <a:lnSpc>
                <a:spcPts val="2700"/>
              </a:lnSpc>
              <a:buSzPct val="100000"/>
              <a:buFont typeface="+mj-lt"/>
              <a:buAutoNum type="arabicPeriod" startAt="2"/>
            </a:pPr>
            <a:r>
              <a:rPr lang="en-US" sz="1700" dirty="0">
                <a:solidFill>
                  <a:srgbClr val="384653"/>
                </a:solidFill>
                <a:latin typeface="Montserrat" pitchFamily="34" charset="0"/>
                <a:ea typeface="Montserrat" pitchFamily="34" charset="-122"/>
                <a:cs typeface="Montserrat" pitchFamily="34" charset="-120"/>
              </a:rPr>
              <a:t>UMWALI Claudine</a:t>
            </a:r>
            <a:endParaRPr lang="en-US" sz="1700" dirty="0"/>
          </a:p>
        </p:txBody>
      </p:sp>
      <p:sp>
        <p:nvSpPr>
          <p:cNvPr id="5" name="Text 3"/>
          <p:cNvSpPr/>
          <p:nvPr/>
        </p:nvSpPr>
        <p:spPr>
          <a:xfrm>
            <a:off x="758309" y="4651296"/>
            <a:ext cx="13113782" cy="1040130"/>
          </a:xfrm>
          <a:prstGeom prst="rect">
            <a:avLst/>
          </a:prstGeom>
          <a:noFill/>
          <a:ln/>
        </p:spPr>
        <p:txBody>
          <a:bodyPr wrap="square" lIns="0" tIns="0" rIns="0" bIns="0" rtlCol="0" anchor="t"/>
          <a:lstStyle/>
          <a:p>
            <a:pPr marL="342900" indent="-342900" algn="l">
              <a:lnSpc>
                <a:spcPts val="2700"/>
              </a:lnSpc>
              <a:buSzPct val="100000"/>
              <a:buFont typeface="+mj-lt"/>
              <a:buAutoNum type="arabicPeriod" startAt="3"/>
            </a:pPr>
            <a:r>
              <a:rPr lang="en-US" sz="1700" dirty="0">
                <a:solidFill>
                  <a:srgbClr val="384653"/>
                </a:solidFill>
                <a:latin typeface="Montserrat" pitchFamily="34" charset="0"/>
                <a:ea typeface="Montserrat" pitchFamily="34" charset="-122"/>
                <a:cs typeface="Montserrat" pitchFamily="34" charset="-120"/>
              </a:rPr>
              <a:t>TWIZIHIRWE Benjamin</a:t>
            </a:r>
            <a:endParaRPr lang="en-US" sz="1700" dirty="0"/>
          </a:p>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                                                                                          THANK YOU!!!!!!!!!!!!!!!!</a:t>
            </a:r>
            <a:endParaRPr lang="en-US" sz="1700" dirty="0"/>
          </a:p>
        </p:txBody>
      </p:sp>
      <p:sp>
        <p:nvSpPr>
          <p:cNvPr id="6" name="Text 4"/>
          <p:cNvSpPr/>
          <p:nvPr/>
        </p:nvSpPr>
        <p:spPr>
          <a:xfrm>
            <a:off x="758309" y="5935147"/>
            <a:ext cx="13113782" cy="346710"/>
          </a:xfrm>
          <a:prstGeom prst="rect">
            <a:avLst/>
          </a:prstGeom>
          <a:noFill/>
          <a:ln/>
        </p:spPr>
        <p:txBody>
          <a:bodyPr wrap="none" lIns="0" tIns="0" rIns="0" bIns="0" rtlCol="0" anchor="t"/>
          <a:lstStyle/>
          <a:p>
            <a:pPr marL="0" indent="0" algn="l">
              <a:lnSpc>
                <a:spcPts val="2700"/>
              </a:lnSpc>
              <a:buNone/>
            </a:pP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887</Words>
  <Application>Microsoft Office PowerPoint</Application>
  <PresentationFormat>Custom</PresentationFormat>
  <Paragraphs>192</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Montserrat</vt:lpstr>
      <vt:lpstr>Barlow Bold</vt:lpstr>
      <vt:lpstr>Barlow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Benjamin TWIZIHIRWE</cp:lastModifiedBy>
  <cp:revision>3</cp:revision>
  <dcterms:created xsi:type="dcterms:W3CDTF">2026-01-20T09:06:35Z</dcterms:created>
  <dcterms:modified xsi:type="dcterms:W3CDTF">2026-01-20T14:34:43Z</dcterms:modified>
</cp:coreProperties>
</file>